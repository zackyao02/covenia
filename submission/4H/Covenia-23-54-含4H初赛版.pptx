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cc242bd3d743ba" /><Relationship Type="http://schemas.openxmlformats.org/officeDocument/2006/relationships/extended-properties" Target="/docProps/app.xml" Id="R4e0f2b8444e44312" /><Relationship Type="http://schemas.openxmlformats.org/officeDocument/2006/relationships/officeDocument" Target="/ppt/presentation.xml" Id="R23a7c0891873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fe2d8fc8f54594"/>
  </p:sldMasterIdLst>
  <p:notesMasterIdLst>
    <p:notesMasterId xmlns:r="http://schemas.openxmlformats.org/officeDocument/2006/relationships" r:id="R2114b60c49d54a12"/>
  </p:notesMasterIdLst>
  <p:sldIdLst>
    <p:sldId xmlns:r="http://schemas.openxmlformats.org/officeDocument/2006/relationships" id="256" r:id="Rc43331e3e56e4d6b"/>
    <p:sldId xmlns:r="http://schemas.openxmlformats.org/officeDocument/2006/relationships" id="257" r:id="R1aa234347e244dd3"/>
    <p:sldId xmlns:r="http://schemas.openxmlformats.org/officeDocument/2006/relationships" id="258" r:id="Ra004b442f61c4784"/>
    <p:sldId xmlns:r="http://schemas.openxmlformats.org/officeDocument/2006/relationships" id="259" r:id="R0d5437b57cd34a42"/>
    <p:sldId xmlns:r="http://schemas.openxmlformats.org/officeDocument/2006/relationships" id="260" r:id="R989bb13cc4904d60"/>
    <p:sldId xmlns:r="http://schemas.openxmlformats.org/officeDocument/2006/relationships" id="261" r:id="R4aec026f9f224933"/>
    <p:sldId xmlns:r="http://schemas.openxmlformats.org/officeDocument/2006/relationships" id="262" r:id="R6bd2714582d54c7e"/>
    <p:sldId xmlns:r="http://schemas.openxmlformats.org/officeDocument/2006/relationships" id="263" r:id="Ra225a93a9e5b4ef1"/>
    <p:sldId xmlns:r="http://schemas.openxmlformats.org/officeDocument/2006/relationships" id="264" r:id="R2b6656f5cc074553"/>
    <p:sldId xmlns:r="http://schemas.openxmlformats.org/officeDocument/2006/relationships" id="265" r:id="Rcdd24a3c50e84b22"/>
    <p:sldId xmlns:r="http://schemas.openxmlformats.org/officeDocument/2006/relationships" id="266" r:id="R9258e380849e486c"/>
    <p:sldId xmlns:r="http://schemas.openxmlformats.org/officeDocument/2006/relationships" id="267" r:id="Re9ae67abbe7b482c"/>
    <p:sldId xmlns:r="http://schemas.openxmlformats.org/officeDocument/2006/relationships" id="268" r:id="Ra765cd9f66bc4595"/>
    <p:sldId xmlns:r="http://schemas.openxmlformats.org/officeDocument/2006/relationships" id="269" r:id="Ra15df478a4614bec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ede7ea1f14aef" /><Relationship Type="http://schemas.openxmlformats.org/officeDocument/2006/relationships/slideMaster" Target="/ppt/slideMasters/slideMaster1.xml" Id="R03fe2d8fc8f54594" /><Relationship Type="http://schemas.openxmlformats.org/officeDocument/2006/relationships/notesMaster" Target="/ppt/notesMasters/notesMaster1.xml" Id="R2114b60c49d54a12" /><Relationship Type="http://schemas.openxmlformats.org/officeDocument/2006/relationships/presProps" Target="/ppt/presProps.xml" Id="R2999f1363c9e4e13" /><Relationship Type="http://schemas.openxmlformats.org/officeDocument/2006/relationships/viewProps" Target="/ppt/viewProps.xml" Id="R65a7c2c508874e6b" /><Relationship Type="http://schemas.openxmlformats.org/officeDocument/2006/relationships/tableStyles" Target="/ppt/tableStyles.xml" Id="R1977b9900ffd42b1" /><Relationship Type="http://schemas.microsoft.com/office/2018/10/relationships/authors" Target="/ppt/authors.xml" Id="R0f10a72a53784c07" /><Relationship Type="http://schemas.openxmlformats.org/officeDocument/2006/relationships/slide" Target="/ppt/slides/slide1.xml" Id="Rc43331e3e56e4d6b" /><Relationship Type="http://schemas.openxmlformats.org/officeDocument/2006/relationships/slide" Target="/ppt/slides/slide2.xml" Id="R1aa234347e244dd3" /><Relationship Type="http://schemas.openxmlformats.org/officeDocument/2006/relationships/slide" Target="/ppt/slides/slide3.xml" Id="Ra004b442f61c4784" /><Relationship Type="http://schemas.openxmlformats.org/officeDocument/2006/relationships/slide" Target="/ppt/slides/slide4.xml" Id="R0d5437b57cd34a42" /><Relationship Type="http://schemas.openxmlformats.org/officeDocument/2006/relationships/slide" Target="/ppt/slides/slide5.xml" Id="R989bb13cc4904d60" /><Relationship Type="http://schemas.openxmlformats.org/officeDocument/2006/relationships/slide" Target="/ppt/slides/slide6.xml" Id="R4aec026f9f224933" /><Relationship Type="http://schemas.openxmlformats.org/officeDocument/2006/relationships/slide" Target="/ppt/slides/slide7.xml" Id="R6bd2714582d54c7e" /><Relationship Type="http://schemas.openxmlformats.org/officeDocument/2006/relationships/slide" Target="/ppt/slides/slide8.xml" Id="Ra225a93a9e5b4ef1" /><Relationship Type="http://schemas.openxmlformats.org/officeDocument/2006/relationships/slide" Target="/ppt/slides/slide9.xml" Id="R2b6656f5cc074553" /><Relationship Type="http://schemas.openxmlformats.org/officeDocument/2006/relationships/slide" Target="/ppt/slides/slide10.xml" Id="Rcdd24a3c50e84b22" /><Relationship Type="http://schemas.openxmlformats.org/officeDocument/2006/relationships/slide" Target="/ppt/slides/slide11.xml" Id="R9258e380849e486c" /><Relationship Type="http://schemas.openxmlformats.org/officeDocument/2006/relationships/slide" Target="/ppt/slides/slide12.xml" Id="Re9ae67abbe7b482c" /><Relationship Type="http://schemas.openxmlformats.org/officeDocument/2006/relationships/slide" Target="/ppt/slides/slide13.xml" Id="Ra765cd9f66bc4595" /><Relationship Type="http://schemas.openxmlformats.org/officeDocument/2006/relationships/slide" Target="/ppt/slides/slide14.xml" Id="Ra15df478a461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891f6741548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afa20191d64b52" /><Relationship Type="http://schemas.openxmlformats.org/officeDocument/2006/relationships/notesMaster" Target="/ppt/notesMasters/notesMaster1.xml" Id="Rbcab800e1f54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5f7b3df5845c0" /><Relationship Type="http://schemas.openxmlformats.org/officeDocument/2006/relationships/notesMaster" Target="/ppt/notesMasters/notesMaster1.xml" Id="R4b4daff89bdf48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df2f5bdca4a38" /><Relationship Type="http://schemas.openxmlformats.org/officeDocument/2006/relationships/notesMaster" Target="/ppt/notesMasters/notesMaster1.xml" Id="R0a40be6765c548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b3dab949d84a11" /><Relationship Type="http://schemas.openxmlformats.org/officeDocument/2006/relationships/notesMaster" Target="/ppt/notesMasters/notesMaster1.xml" Id="R20b8f451589d45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9d79fd34cc4a36" /><Relationship Type="http://schemas.openxmlformats.org/officeDocument/2006/relationships/notesMaster" Target="/ppt/notesMasters/notesMaster1.xml" Id="R511bacce28164b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57207684ed4f4c" /><Relationship Type="http://schemas.openxmlformats.org/officeDocument/2006/relationships/notesMaster" Target="/ppt/notesMasters/notesMaster1.xml" Id="Rcede451da07d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6d722aa6254011" /><Relationship Type="http://schemas.openxmlformats.org/officeDocument/2006/relationships/notesMaster" Target="/ppt/notesMasters/notesMaster1.xml" Id="R031c5f86384745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090856c6c14e86" /><Relationship Type="http://schemas.openxmlformats.org/officeDocument/2006/relationships/notesMaster" Target="/ppt/notesMasters/notesMaster1.xml" Id="R454579e139c640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4b77a3abcb4180" /><Relationship Type="http://schemas.openxmlformats.org/officeDocument/2006/relationships/notesMaster" Target="/ppt/notesMasters/notesMaster1.xml" Id="R5beca76036e04e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03f5af3dc4b84" /><Relationship Type="http://schemas.openxmlformats.org/officeDocument/2006/relationships/notesMaster" Target="/ppt/notesMasters/notesMaster1.xml" Id="R6a4def0135e94b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51ccda372d4fe6" /><Relationship Type="http://schemas.openxmlformats.org/officeDocument/2006/relationships/notesMaster" Target="/ppt/notesMasters/notesMaster1.xml" Id="R9a5c26d013074e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97815a11d4872" /><Relationship Type="http://schemas.openxmlformats.org/officeDocument/2006/relationships/notesMaster" Target="/ppt/notesMasters/notesMaster1.xml" Id="Rec2f254bfd8543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520c377ed44fb2" /><Relationship Type="http://schemas.openxmlformats.org/officeDocument/2006/relationships/notesMaster" Target="/ppt/notesMasters/notesMaster1.xml" Id="Red68b55b34e145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1bb7e3479f4fab" /><Relationship Type="http://schemas.openxmlformats.org/officeDocument/2006/relationships/notesMaster" Target="/ppt/notesMasters/notesMaster1.xml" Id="R2b9a9491e8da45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故事线来源：/Users/zly/Downloads/Covenia/Covenia_演示视频.mp4，约 00:24–02:35 的林小满换货场景。视频中可见消费者已提交 3 张照片、已获得 48 小时内发货承诺，并再次询问换货进度。本页把这些演示事件抽象为 Consumer Effort。该视频属于赛事模拟演示，不作为真实用户研究证据。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本页将问卷定位为早期用户探索，不用于推断总体消费者比例。图表分母为近 12 个月有售后经历者 n=56。五次消费者深访的真实原话尚未提供，因此只保留两个明确占位，不编写或改写引文。图表反映的高摩擦环节用于确定产品优先级，不用于证明 Covenia 已产生效果。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截图反映材料、历史动作和下一步已经围绕同一个消费者状态呈现。产品设计强调行动优先：客服先恢复当前状态、责任和下一步，再按需展开证据，减少交接时的查找成本。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故事线来源：/Users/zly/Downloads/Covenia/Covenia_演示视频.mp4，约 00:24–04:06 的林小满换货场景。左侧引用视频中可见的消费者表达，呈现重复确认带来的 Consumer Effort。右侧把视频里的照片、换货单、48 小时承诺、物流责任和主动更新抽象为 Customer State。该视频属于赛事模拟演示，不作为真实用户研究或效果验证证据。版式采用消费者经历与系统状态双区叙事，与后一页横向技术链路区分。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六个阶段共同服务于持续状态。Qwen 理解发生了什么，JEV 提供概率判断，规则限定允许动作，客服确认真正发送或执行的内容，Covenia 继续保存状态和履约结果。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页面反映 JEV 的作用是把模糊沟通信号转成概率判断，并调整已准备回复的优先级。它不直接认定事实、替代硬规则或自动执行升级。96% 是截图中的单次未校准输出，不是准确率。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本页数字 21、46、71 仅用于说明风险旅程的产品机制，不是当前模型测得的业务分数。可实现的非人工部分包括事件聚合、趋势计算、阈值候选和提醒排序。风险升级仍需规则门槛和人工确认，不能把情绪直接覆盖现有规则或变成未经验证的风险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截图反映承诺可从聊天文本进入持续履约状态。Deadline Monitor 识别临期或逾期，客服确认消费者更新，物流送达后系统回写并关闭责任。当前时间和物流事件仍由本地模拟操作触发。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三种决策反映系统按商品、问题范围、证据状态和风险约束处理动作。产品设计避免把所有索证一律拦截，也避免让模型单独判断使用不适等高风险情形。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本页把每项产品能力映射到可观测指标。当前只能证明原型行为和技术闭环，尚无真实客服对照结果。后续需要相同任务、相同案例和统一记录标准，才能比较处理耗时、错问率、按时更新率与重复解释率。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本页用于初赛说明 H1–H4 的当前验证边界。</a:t>
            </a:r>
          </a:p>
          <a:p xmlns:a="http://schemas.openxmlformats.org/drawingml/2006/main">
            <a:r>
              <a:t>H1：3 个设计案例均覆盖 Customer State 8/8 必填区块。机制已验证，真人客服效率提升未验证。</a:t>
            </a:r>
          </a:p>
          <a:p xmlns:a="http://schemas.openxmlformats.org/drawingml/2006/main">
            <a:r>
              <a:t>H2：INTERVENE、ALLOW、HUMAN_REVIEW 三种设计边界行为均符合预期。Precision/Recall 仅来自 3 个设计案例，不能作为生产准确率。</a:t>
            </a:r>
          </a:p>
          <a:p xmlns:a="http://schemas.openxmlformats.org/drawingml/2006/main">
            <a:r>
              <a:t>H3：已验证来源追踪、失败降级、服务事实不被模型信号改写。JEV 准确率、提前量与阈值仍需真实 Journey 和独立人工标注。</a:t>
            </a:r>
          </a:p>
          <a:p xmlns:a="http://schemas.openxmlformats.org/drawingml/2006/main">
            <a:r>
              <a:t>H4：已验证承诺调度、逾期单次升级和需人工确认的主动通知草稿。真实主动更新率提升未验证。</a:t>
            </a:r>
          </a:p>
          <a:p xmlns:a="http://schemas.openxmlformats.org/drawingml/2006/main">
            <a:r>
              <a:t>当前证据类型：赛事 Mock 数据与团队设计案例。</a:t>
            </a:r>
          </a:p>
          <a:p xmlns:a="http://schemas.openxmlformats.org/drawingml/2006/main">
            <a:r>
              <a:t>内容依据：https://chatgpt.com/s/t_6ac59fff9f4481918500ba940854b60d</a:t>
            </a:r>
          </a:p>
          <a:p xmlns:a="http://schemas.openxmlformats.org/drawingml/2006/main">
            <a:r>
              <a:t>验证记录：validation/results/hypothesis-validation.latest.md（2026-10-07）。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ebf22e51d4495" /><Relationship Type="http://schemas.openxmlformats.org/officeDocument/2006/relationships/image" Target="/ppt/media/image.jpeg" Id="R26441d5f9f1347f6" /><Relationship Type="http://schemas.openxmlformats.org/officeDocument/2006/relationships/image" Target="/ppt/media/image.png" Id="R3968a6bcba194d89" /><Relationship Type="http://schemas.openxmlformats.org/officeDocument/2006/relationships/image" Target="/ppt/media/image2.png" Id="Rc8e50d7e97c94a7c" /><Relationship Type="http://schemas.openxmlformats.org/officeDocument/2006/relationships/image" Target="/ppt/media/image3.png" Id="Rf6d65828b9d745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df7a735a44db6" /><Relationship Type="http://schemas.openxmlformats.org/officeDocument/2006/relationships/image" Target="/ppt/media/image.jpeg" Id="Re62a40d6135e49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6077306374a43" /><Relationship Type="http://schemas.openxmlformats.org/officeDocument/2006/relationships/image" Target="/ppt/media/image.jpeg" Id="R38451b0f58764f11" /><Relationship Type="http://schemas.openxmlformats.org/officeDocument/2006/relationships/image" Target="/ppt/media/image3.png" Id="Rdd3614298b7240f4" /><Relationship Type="http://schemas.openxmlformats.org/officeDocument/2006/relationships/image" Target="/ppt/media/image.png" Id="R15ac57654c864506" /><Relationship Type="http://schemas.openxmlformats.org/officeDocument/2006/relationships/image" Target="/ppt/media/image2.png" Id="R47b7bbff2ed042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b1f89694e444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41d5f9f1347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6095"/>
          </a:xfrm>
          <a:prstGeom xmlns:a="http://schemas.openxmlformats.org/drawingml/2006/main" prst="rect">
            <a:avLst/>
          </a:prstGeom>
        </p:spPr>
      </p:pic>
      <p:pic>
        <p:nvPicPr>
          <p:cNvPr id="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8a6bcba194d89"/>
          <a:srcRect xmlns:a="http://schemas.openxmlformats.org/drawingml/2006/main" l="0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548" y="206847"/>
            <a:ext cx="1528881" cy="932900"/>
          </a:xfrm>
          <a:prstGeom xmlns:a="http://schemas.openxmlformats.org/drawingml/2006/main" prst="rect">
            <a:avLst/>
          </a:prstGeom>
        </p:spPr>
      </p:pic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50d7e97c94a7c"/>
          <a:srcRect xmlns:a="http://schemas.openxmlformats.org/drawingml/2006/main" l="0" t="0" r="55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3146" y="109257"/>
            <a:ext cx="1528882" cy="1030490"/>
          </a:xfrm>
          <a:prstGeom xmlns:a="http://schemas.openxmlformats.org/drawingml/2006/main" prst="rect">
            <a:avLst/>
          </a:prstGeom>
        </p:spPr>
      </p:pic>
      <p:pic>
        <p:nvPicPr>
          <p:cNvPr id="10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50d7e97c94a7c"/>
          <a:srcRect xmlns:a="http://schemas.openxmlformats.org/drawingml/2006/main" l="48545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0402" y="113273"/>
            <a:ext cx="1782113" cy="1034157"/>
          </a:xfrm>
          <a:prstGeom xmlns:a="http://schemas.openxmlformats.org/drawingml/2006/main" prst="rect">
            <a:avLst/>
          </a:prstGeom>
        </p:spPr>
      </p:pic>
      <p:pic>
        <p:nvPicPr>
          <p:cNvPr id="11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8a6bcba194d89"/>
          <a:srcRect xmlns:a="http://schemas.openxmlformats.org/drawingml/2006/main" l="30287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4685" y="210863"/>
            <a:ext cx="242175" cy="932900"/>
          </a:xfrm>
          <a:prstGeom xmlns:a="http://schemas.openxmlformats.org/drawingml/2006/main" prst="rect">
            <a:avLst/>
          </a:prstGeom>
        </p:spPr>
      </p:pic>
      <p:pic>
        <p:nvPicPr>
          <p:cNvPr id="1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65828b9d7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685" y="5886450"/>
            <a:ext cx="5171440" cy="83883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a40d6135e4949"/>
          <a:srcRect xmlns:a="http://schemas.openxmlformats.org/drawingml/2006/main" l="0" t="900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76963"/>
            <a:ext cx="12192000" cy="67913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1b0f58764f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6095"/>
          </a:xfrm>
          <a:prstGeom xmlns:a="http://schemas.openxmlformats.org/drawingml/2006/main" prst="rect">
            <a:avLst/>
          </a:prstGeom>
        </p:spPr>
      </p:pic>
      <p:pic>
        <p:nvPicPr>
          <p:cNvPr id="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614298b72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685" y="5886450"/>
            <a:ext cx="5171440" cy="838835"/>
          </a:xfrm>
          <a:prstGeom xmlns:a="http://schemas.openxmlformats.org/drawingml/2006/main" prst="rect">
            <a:avLst/>
          </a:prstGeom>
        </p:spPr>
      </p:pic>
      <p:pic>
        <p:nvPicPr>
          <p:cNvPr id="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57654c864506"/>
          <a:srcRect xmlns:a="http://schemas.openxmlformats.org/drawingml/2006/main" l="0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548" y="206847"/>
            <a:ext cx="1528881" cy="932900"/>
          </a:xfrm>
          <a:prstGeom xmlns:a="http://schemas.openxmlformats.org/drawingml/2006/main" prst="rect">
            <a:avLst/>
          </a:prstGeom>
        </p:spPr>
      </p:pic>
      <p:pic>
        <p:nvPicPr>
          <p:cNvPr id="1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7bbff2ed042d9"/>
          <a:srcRect xmlns:a="http://schemas.openxmlformats.org/drawingml/2006/main" l="0" t="0" r="55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3146" y="109257"/>
            <a:ext cx="1528882" cy="1030490"/>
          </a:xfrm>
          <a:prstGeom xmlns:a="http://schemas.openxmlformats.org/drawingml/2006/main" prst="rect">
            <a:avLst/>
          </a:prstGeom>
        </p:spPr>
      </p:pic>
      <p:pic>
        <p:nvPicPr>
          <p:cNvPr id="11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7bbff2ed042d9"/>
          <a:srcRect xmlns:a="http://schemas.openxmlformats.org/drawingml/2006/main" l="48545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0402" y="113273"/>
            <a:ext cx="1782113" cy="1034157"/>
          </a:xfrm>
          <a:prstGeom xmlns:a="http://schemas.openxmlformats.org/drawingml/2006/main" prst="rect">
            <a:avLst/>
          </a:prstGeom>
        </p:spPr>
      </p:pic>
      <p:pic>
        <p:nvPicPr>
          <p:cNvPr id="12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c57654c864506"/>
          <a:srcRect xmlns:a="http://schemas.openxmlformats.org/drawingml/2006/main" l="30287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4685" y="210863"/>
            <a:ext cx="242175" cy="9329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>
  <p:cSld name="Covenia 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6c865e4e514964" /><Relationship Type="http://schemas.openxmlformats.org/officeDocument/2006/relationships/slideLayout" Target="/ppt/slideLayouts/slideLayout1.xml" Id="Rb22885a254814a76" /><Relationship Type="http://schemas.openxmlformats.org/officeDocument/2006/relationships/slideLayout" Target="/ppt/slideLayouts/slideLayout2.xml" Id="R7b0b14a9a1914d8b" /><Relationship Type="http://schemas.openxmlformats.org/officeDocument/2006/relationships/slideLayout" Target="/ppt/slideLayouts/slideLayout3.xml" Id="R04c4271a735e495e" /><Relationship Type="http://schemas.openxmlformats.org/officeDocument/2006/relationships/slideLayout" Target="/ppt/slideLayouts/slideLayout4.xml" Id="Rf5db785f524b425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DE4C9F3-C0AB-433A-A047-BAD58CEC1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C7F869-3942-41FA-89CB-E87E9239F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EB4DBE-9C64-466E-86FC-9061F987180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68FBFD-BBD4-42E0-B472-6382C4D2B1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C41D11-C442-4461-AA5E-CD87568047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51275C-6140-4B88-B357-AA92BCEF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725" y="6530340"/>
            <a:ext cx="8763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8000">
                    <a:alpha val="50000"/>
                  </a:srgbClr>
                </a:solidFill>
                <a:latin typeface="Arial"/>
                <a:ea typeface="Arial"/>
                <a:cs typeface="Arial"/>
              </a:rPr>
              <a:t>C1 - Internal use</a:t>
            </a:r>
            <a:endParaRPr sz="900">
              <a:solidFill>
                <a:srgbClr val="008000">
                  <a:alpha val="50000"/>
                </a:srgbClr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2885a254814a76"/>
    <p:sldLayoutId xmlns:r="http://schemas.openxmlformats.org/officeDocument/2006/relationships" id="2147483650" r:id="R7b0b14a9a1914d8b"/>
    <p:sldLayoutId xmlns:r="http://schemas.openxmlformats.org/officeDocument/2006/relationships" id="2147483651" r:id="R04c4271a735e495e"/>
    <p:sldLayoutId xmlns:r="http://schemas.openxmlformats.org/officeDocument/2006/relationships" id="2147483652" r:id="Rf5db785f524b425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f5ee6dfa482f" /><Relationship Type="http://schemas.openxmlformats.org/officeDocument/2006/relationships/notesSlide" Target="/ppt/notesSlides/notesSlide1.xml" Id="Re1384a65b4b4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43e8fd5108a4131" /><Relationship Type="http://schemas.openxmlformats.org/officeDocument/2006/relationships/image" Target="/ppt/media/image4.png" Id="R645fdb3a528746b4" /><Relationship Type="http://schemas.openxmlformats.org/officeDocument/2006/relationships/notesSlide" Target="/ppt/notesSlides/notesSlide2.xml" Id="R220e9f7a5d3d4a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26cad9699b34e78" /><Relationship Type="http://schemas.openxmlformats.org/officeDocument/2006/relationships/image" Target="/ppt/media/image4.png" Id="R6482e994dd444a38" /><Relationship Type="http://schemas.openxmlformats.org/officeDocument/2006/relationships/image" Target="/ppt/media/image5.png" Id="Rea2302bfe073483a" /><Relationship Type="http://schemas.openxmlformats.org/officeDocument/2006/relationships/notesSlide" Target="/ppt/notesSlides/notesSlide3.xml" Id="R28bc11c4c61346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79934c10f1e48ba" /><Relationship Type="http://schemas.openxmlformats.org/officeDocument/2006/relationships/image" Target="/ppt/media/image4.png" Id="R9c7e2bf84e4045d4" /><Relationship Type="http://schemas.openxmlformats.org/officeDocument/2006/relationships/image" Target="/ppt/media/image6.png" Id="R07b688fb29074310" /><Relationship Type="http://schemas.openxmlformats.org/officeDocument/2006/relationships/notesSlide" Target="/ppt/notesSlides/notesSlide4.xml" Id="R16abe7b867a4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01fe179260b416c" /><Relationship Type="http://schemas.openxmlformats.org/officeDocument/2006/relationships/image" Target="/ppt/media/image4.png" Id="R8279a3d6aa3c4649" /><Relationship Type="http://schemas.openxmlformats.org/officeDocument/2006/relationships/notesSlide" Target="/ppt/notesSlides/notesSlide5.xml" Id="R2460c6a5e8204b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8ae1a1ab0114b16" /><Relationship Type="http://schemas.openxmlformats.org/officeDocument/2006/relationships/image" Target="/ppt/media/image4.png" Id="R56678f3cc70041d0" /><Relationship Type="http://schemas.openxmlformats.org/officeDocument/2006/relationships/notesSlide" Target="/ppt/notesSlides/notesSlide6.xml" Id="R486e3581bd5e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f64b4d7ecad4c3a" /><Relationship Type="http://schemas.openxmlformats.org/officeDocument/2006/relationships/image" Target="/ppt/media/image4.png" Id="R5a0bb79edffd4456" /><Relationship Type="http://schemas.openxmlformats.org/officeDocument/2006/relationships/image" Target="/ppt/media/image7.png" Id="Ra05356fe631c4007" /><Relationship Type="http://schemas.openxmlformats.org/officeDocument/2006/relationships/notesSlide" Target="/ppt/notesSlides/notesSlide7.xml" Id="Rc1bcdaa12aa647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6a14eb391b840c5" /><Relationship Type="http://schemas.openxmlformats.org/officeDocument/2006/relationships/image" Target="/ppt/media/image4.png" Id="R4f56ae99cfc44e75" /><Relationship Type="http://schemas.openxmlformats.org/officeDocument/2006/relationships/notesSlide" Target="/ppt/notesSlides/notesSlide8.xml" Id="R53acf5f01f4e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276629b0db34e28" /><Relationship Type="http://schemas.openxmlformats.org/officeDocument/2006/relationships/image" Target="/ppt/media/image4.png" Id="Ra6c74f3d25074bf2" /><Relationship Type="http://schemas.openxmlformats.org/officeDocument/2006/relationships/image" Target="/ppt/media/image8.png" Id="Ra3e619b9edad478e" /><Relationship Type="http://schemas.openxmlformats.org/officeDocument/2006/relationships/image" Target="/ppt/media/image9.png" Id="R9401b34f83d14542" /><Relationship Type="http://schemas.openxmlformats.org/officeDocument/2006/relationships/image" Target="/ppt/media/image10.png" Id="R3999ffaca77549be" /><Relationship Type="http://schemas.openxmlformats.org/officeDocument/2006/relationships/notesSlide" Target="/ppt/notesSlides/notesSlide9.xml" Id="Rc8c7cf29d60742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eab500d4894674" /><Relationship Type="http://schemas.openxmlformats.org/officeDocument/2006/relationships/image" Target="/ppt/media/image4.png" Id="Rbae030e73692499a" /><Relationship Type="http://schemas.openxmlformats.org/officeDocument/2006/relationships/notesSlide" Target="/ppt/notesSlides/notesSlide10.xml" Id="Ra535752c75104c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aee4cafb07443e8" /><Relationship Type="http://schemas.openxmlformats.org/officeDocument/2006/relationships/image" Target="/ppt/media/image4.png" Id="R8f98f9f0a9604c6a" /><Relationship Type="http://schemas.openxmlformats.org/officeDocument/2006/relationships/notesSlide" Target="/ppt/notesSlides/notesSlide11.xml" Id="R4110c7c20c6641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312e73e1625455f" /><Relationship Type="http://schemas.openxmlformats.org/officeDocument/2006/relationships/image" Target="/ppt/media/image4.png" Id="Rcf9a78f1ee294d52" /><Relationship Type="http://schemas.openxmlformats.org/officeDocument/2006/relationships/notesSlide" Target="/ppt/notesSlides/notesSlide12.xml" Id="R715934d3816749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3659dfa024240cf" /><Relationship Type="http://schemas.openxmlformats.org/officeDocument/2006/relationships/image" Target="/ppt/media/image4.png" Id="Rf6fe6c954f634309" /><Relationship Type="http://schemas.openxmlformats.org/officeDocument/2006/relationships/notesSlide" Target="/ppt/notesSlides/notesSlide13.xml" Id="R5fb3319be33840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d8e49db08374344" /><Relationship Type="http://schemas.openxmlformats.org/officeDocument/2006/relationships/notesSlide" Target="/ppt/notesSlides/notesSlide14.xml" Id="R3c2ea0ca746241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workName">
            <a:extLst xmlns:a="http://schemas.openxmlformats.org/drawingml/2006/main">
              <a:ext uri="{FF2B5EF4-FFF2-40B4-BE49-F238E27FC236}">
                <a16:creationId xmlns:a16="http://schemas.microsoft.com/office/drawing/2014/main" id="{56AE06A1-CC45-43D4-B229-E0D46186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1993751"/>
            <a:ext cx="9525000" cy="706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44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Covenia</a:t>
            </a:r>
            <a:endParaRPr sz="440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D08E1F65-2947-429F-8A07-3C0FDA8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92" y="28003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9D5F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75" b="1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rPr>
              <a:t>赛道一｜Continuum</a:t>
            </a:r>
            <a:endParaRPr sz="4400" b="1">
              <a:solidFill>
                <a:schemeClr val="bg1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3" name="h1">
            <a:extLst xmlns:a="http://schemas.openxmlformats.org/drawingml/2006/main">
              <a:ext uri="{FF2B5EF4-FFF2-40B4-BE49-F238E27FC236}">
                <a16:creationId xmlns:a16="http://schemas.microsoft.com/office/drawing/2014/main" id="{9325F2FA-0017-4F6C-A405-7E8222E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92" y="3654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2E8F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400" b="0">
                <a:solidFill>
                  <a:srgbClr val="F2E8FB"/>
                </a:solidFill>
                <a:latin typeface="思源黑体 CN Light"/>
                <a:ea typeface="思源黑体 CN Light"/>
                <a:cs typeface="思源黑体 CN Light"/>
              </a:rPr>
              <a:t>美妆售后，接上用户经历并跟进承诺</a:t>
            </a:r>
            <a:endParaRPr sz="2400" b="0">
              <a:solidFill>
                <a:srgbClr val="F2E8FB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4" name="tagline">
            <a:extLst xmlns:a="http://schemas.openxmlformats.org/drawingml/2006/main">
              <a:ext uri="{FF2B5EF4-FFF2-40B4-BE49-F238E27FC236}">
                <a16:creationId xmlns:a16="http://schemas.microsoft.com/office/drawing/2014/main" id="{0A47A60B-E7C6-4791-A511-3AE91242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92" y="4429462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C4EA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600" b="0">
                <a:solidFill>
                  <a:srgbClr val="D8C4EA"/>
                </a:solidFill>
                <a:latin typeface="思源黑体 CN Light"/>
                <a:ea typeface="思源黑体 CN Light"/>
                <a:cs typeface="思源黑体 CN Light"/>
              </a:rPr>
              <a:t>辅助人工客服的 AI Agent</a:t>
            </a:r>
            <a:endParaRPr sz="1600" b="0">
              <a:solidFill>
                <a:srgbClr val="D8C4EA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5" name="note">
            <a:extLst xmlns:a="http://schemas.openxmlformats.org/drawingml/2006/main">
              <a:ext uri="{FF2B5EF4-FFF2-40B4-BE49-F238E27FC236}">
                <a16:creationId xmlns:a16="http://schemas.microsoft.com/office/drawing/2014/main" id="{2D6FC7B4-9694-4B71-BE62-AFE40F22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92" y="4810462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rPr>
              <a:t>赛题一：数据共情者，消费者的 AI 管家</a:t>
            </a:r>
            <a:endParaRPr sz="1600" b="0">
              <a:solidFill>
                <a:srgbClr val="C9B3D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808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2CAEF82D-BDD0-4A7F-A36C-1831D86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作品背景与场景洞察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E15AFD-66B2-4B88-A933-3D263F13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林小满承担的 Consumer Effort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F4587795-0288-4F3E-A0F3-4FE173E9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15FD27B-0A98-4C0F-AD0A-86241E7A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5" name="leftLabel">
            <a:extLst xmlns:a="http://schemas.openxmlformats.org/drawingml/2006/main">
              <a:ext uri="{FF2B5EF4-FFF2-40B4-BE49-F238E27FC236}">
                <a16:creationId xmlns:a16="http://schemas.microsoft.com/office/drawing/2014/main" id="{1399D6BA-A73E-48DD-9BC2-4105B23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系统分散保存的</a:t>
            </a:r>
            <a:endParaRPr sz="120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6" name="leftRule0">
            <a:extLst xmlns:a="http://schemas.openxmlformats.org/drawingml/2006/main">
              <a:ext uri="{FF2B5EF4-FFF2-40B4-BE49-F238E27FC236}">
                <a16:creationId xmlns:a16="http://schemas.microsoft.com/office/drawing/2014/main" id="{D03D7CAC-AA70-44F6-B4E9-46A53422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leftItem0">
            <a:extLst xmlns:a="http://schemas.openxmlformats.org/drawingml/2006/main">
              <a:ext uri="{FF2B5EF4-FFF2-40B4-BE49-F238E27FC236}">
                <a16:creationId xmlns:a16="http://schemas.microsoft.com/office/drawing/2014/main" id="{A0ED988C-17F3-4F32-8EAB-AB34EAA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一句追问：换货发了吗</a:t>
            </a:r>
            <a:endParaRPr sz="180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leftRule1">
            <a:extLst xmlns:a="http://schemas.openxmlformats.org/drawingml/2006/main">
              <a:ext uri="{FF2B5EF4-FFF2-40B4-BE49-F238E27FC236}">
                <a16:creationId xmlns:a16="http://schemas.microsoft.com/office/drawing/2014/main" id="{282EA94B-3B81-4728-A12E-E6D4AAB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leftItem1">
            <a:extLst xmlns:a="http://schemas.openxmlformats.org/drawingml/2006/main">
              <a:ext uri="{FF2B5EF4-FFF2-40B4-BE49-F238E27FC236}">
                <a16:creationId xmlns:a16="http://schemas.microsoft.com/office/drawing/2014/main" id="{1AC67F83-F7F7-4E48-9AA2-B9D9EB85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三张照片：瓶身、泵头、包装</a:t>
            </a:r>
            <a:endParaRPr sz="180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0" name="leftRule2">
            <a:extLst xmlns:a="http://schemas.openxmlformats.org/drawingml/2006/main">
              <a:ext uri="{FF2B5EF4-FFF2-40B4-BE49-F238E27FC236}">
                <a16:creationId xmlns:a16="http://schemas.microsoft.com/office/drawing/2014/main" id="{1CE1A9C8-7226-43C5-9474-31B97B1D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leftItem2">
            <a:extLst xmlns:a="http://schemas.openxmlformats.org/drawingml/2006/main">
              <a:ext uri="{FF2B5EF4-FFF2-40B4-BE49-F238E27FC236}">
                <a16:creationId xmlns:a16="http://schemas.microsoft.com/office/drawing/2014/main" id="{83F7621C-C297-4D95-92EF-0A6D12F1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一张换货单</a:t>
            </a:r>
            <a:endParaRPr sz="180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2" name="leftRule3">
            <a:extLst xmlns:a="http://schemas.openxmlformats.org/drawingml/2006/main">
              <a:ext uri="{FF2B5EF4-FFF2-40B4-BE49-F238E27FC236}">
                <a16:creationId xmlns:a16="http://schemas.microsoft.com/office/drawing/2014/main" id="{0F9364A4-2507-465A-99AA-A8716929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leftItem3">
            <a:extLst xmlns:a="http://schemas.openxmlformats.org/drawingml/2006/main">
              <a:ext uri="{FF2B5EF4-FFF2-40B4-BE49-F238E27FC236}">
                <a16:creationId xmlns:a16="http://schemas.microsoft.com/office/drawing/2014/main" id="{B326E8A9-620A-44AF-9469-15B46259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一条 48h 发货承诺</a:t>
            </a:r>
            <a:endParaRPr sz="180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4" name="gapWall">
            <a:extLst xmlns:a="http://schemas.openxmlformats.org/drawingml/2006/main">
              <a:ext uri="{FF2B5EF4-FFF2-40B4-BE49-F238E27FC236}">
                <a16:creationId xmlns:a16="http://schemas.microsoft.com/office/drawing/2014/main" id="{C0CDA5F8-BF16-4B67-BF55-FA037988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524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0B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gapTickTop">
            <a:extLst xmlns:a="http://schemas.openxmlformats.org/drawingml/2006/main">
              <a:ext uri="{FF2B5EF4-FFF2-40B4-BE49-F238E27FC236}">
                <a16:creationId xmlns:a16="http://schemas.microsoft.com/office/drawing/2014/main" id="{1AAE0EB2-5D04-4B5D-9DB0-78B0065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FB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gapTickBottom">
            <a:extLst xmlns:a="http://schemas.openxmlformats.org/drawingml/2006/main">
              <a:ext uri="{FF2B5EF4-FFF2-40B4-BE49-F238E27FC236}">
                <a16:creationId xmlns:a16="http://schemas.microsoft.com/office/drawing/2014/main" id="{CE43D83E-8599-4CC8-B141-8D5799D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86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FB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gapChar0">
            <a:extLst xmlns:a="http://schemas.openxmlformats.org/drawingml/2006/main">
              <a:ext uri="{FF2B5EF4-FFF2-40B4-BE49-F238E27FC236}">
                <a16:creationId xmlns:a16="http://schemas.microsoft.com/office/drawing/2014/main" id="{4546D1A0-F4E5-4EFE-957F-9037E6FF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上下文断点</a:t>
            </a:r>
            <a:endParaRPr sz="22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Effort ↑</a:t>
            </a:r>
            <a:endParaRPr sz="22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1" name="rightLabel">
            <a:extLst xmlns:a="http://schemas.openxmlformats.org/drawingml/2006/main">
              <a:ext uri="{FF2B5EF4-FFF2-40B4-BE49-F238E27FC236}">
                <a16:creationId xmlns:a16="http://schemas.microsoft.com/office/drawing/2014/main" id="{97B5AD8F-0AA2-468F-8E92-B4C98222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林小满被迫承担的</a:t>
            </a:r>
            <a:endParaRPr sz="120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2" name="rightRule0">
            <a:extLst xmlns:a="http://schemas.openxmlformats.org/drawingml/2006/main">
              <a:ext uri="{FF2B5EF4-FFF2-40B4-BE49-F238E27FC236}">
                <a16:creationId xmlns:a16="http://schemas.microsoft.com/office/drawing/2014/main" id="{FC64D031-13B4-4188-BB34-0A0A2DE1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98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ightItem0">
            <a:extLst xmlns:a="http://schemas.openxmlformats.org/drawingml/2006/main">
              <a:ext uri="{FF2B5EF4-FFF2-40B4-BE49-F238E27FC236}">
                <a16:creationId xmlns:a16="http://schemas.microsoft.com/office/drawing/2014/main" id="{175C4E9B-3036-45CF-8586-82B96222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rPr>
              <a:t>再次说明问题</a:t>
            </a:r>
            <a:endParaRPr sz="2025" b="1">
              <a:solidFill>
                <a:srgbClr val="A81E7A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4" name="rightRule1">
            <a:extLst xmlns:a="http://schemas.openxmlformats.org/drawingml/2006/main">
              <a:ext uri="{FF2B5EF4-FFF2-40B4-BE49-F238E27FC236}">
                <a16:creationId xmlns:a16="http://schemas.microsoft.com/office/drawing/2014/main" id="{A2505868-FB3C-4989-8A5C-CC535974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242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ightItem1">
            <a:extLst xmlns:a="http://schemas.openxmlformats.org/drawingml/2006/main">
              <a:ext uri="{FF2B5EF4-FFF2-40B4-BE49-F238E27FC236}">
                <a16:creationId xmlns:a16="http://schemas.microsoft.com/office/drawing/2014/main" id="{2CD311C9-99BC-40C0-8432-BC738C7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rPr>
              <a:t>证明材料已经提交</a:t>
            </a:r>
            <a:endParaRPr sz="2025" b="1">
              <a:solidFill>
                <a:srgbClr val="A81E7A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6" name="rightRule2">
            <a:extLst xmlns:a="http://schemas.openxmlformats.org/drawingml/2006/main">
              <a:ext uri="{FF2B5EF4-FFF2-40B4-BE49-F238E27FC236}">
                <a16:creationId xmlns:a16="http://schemas.microsoft.com/office/drawing/2014/main" id="{C4998D0C-B19A-4283-AA1C-9DEA1A21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ightItem2">
            <a:extLst xmlns:a="http://schemas.openxmlformats.org/drawingml/2006/main">
              <a:ext uri="{FF2B5EF4-FFF2-40B4-BE49-F238E27FC236}">
                <a16:creationId xmlns:a16="http://schemas.microsoft.com/office/drawing/2014/main" id="{F97F6E3E-EDBC-4DE1-8756-2A2BD83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291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rPr>
              <a:t>反复追问处理进度</a:t>
            </a:r>
            <a:endParaRPr sz="2025" b="1">
              <a:solidFill>
                <a:srgbClr val="A81E7A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8" name="insightLabel">
            <a:extLst xmlns:a="http://schemas.openxmlformats.org/drawingml/2006/main">
              <a:ext uri="{FF2B5EF4-FFF2-40B4-BE49-F238E27FC236}">
                <a16:creationId xmlns:a16="http://schemas.microsoft.com/office/drawing/2014/main" id="{6442211F-5464-4139-9BED-D3A0C543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006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3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“我前天图片都发过了，换货到底有没有发？” —— 林小满</a:t>
            </a:r>
            <a:endParaRPr sz="1125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9" name="insight">
            <a:extLst xmlns:a="http://schemas.openxmlformats.org/drawingml/2006/main">
              <a:ext uri="{FF2B5EF4-FFF2-40B4-BE49-F238E27FC236}">
                <a16:creationId xmlns:a16="http://schemas.microsoft.com/office/drawing/2014/main" id="{631F1CD1-FE52-4D60-9B14-B2E3AC6D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9256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反映：她在替系统恢复上下文。产品设计：复用照片，保留 48h 承诺，并主动更新进度。</a:t>
            </a:r>
            <a:endParaRPr sz="210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58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fdb3a528746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991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05D38577-018C-445D-8CD5-4355AF7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作品背景与场景洞察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072672-7D5D-414B-B427-5B74D2FA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早期用户探索：五类售后困扰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DACE8695-7908-44F1-8D96-BD2A942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21B723F-732E-4AC4-A90D-9A463DB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pic>
        <p:nvPicPr>
          <p:cNvPr id="42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2e994dd444a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pic>
        <p:nvPicPr>
          <p:cNvPr id="43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302bfe07348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6858000" cy="3848100"/>
          </a:xfrm>
          <a:prstGeom xmlns:a="http://schemas.openxmlformats.org/drawingml/2006/main" prst="rect">
            <a:avLst/>
          </a:prstGeom>
        </p:spPr>
      </p:pic>
      <p:sp>
        <p:nvSpPr>
          <p:cNvPr id="25" name="survey-scale">
            <a:extLst xmlns:a="http://schemas.openxmlformats.org/drawingml/2006/main">
              <a:ext uri="{FF2B5EF4-FFF2-40B4-BE49-F238E27FC236}">
                <a16:creationId xmlns:a16="http://schemas.microsoft.com/office/drawing/2014/main" id="{0F351763-5A38-4195-9E9B-D9F87EA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00125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1 分：完全不困扰    5 分：非常困扰</a:t>
            </a:r>
            <a:endParaRPr sz="120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17" name="src1">
            <a:extLst xmlns:a="http://schemas.openxmlformats.org/drawingml/2006/main">
              <a:ext uri="{FF2B5EF4-FFF2-40B4-BE49-F238E27FC236}">
                <a16:creationId xmlns:a16="http://schemas.microsoft.com/office/drawing/2014/main" id="{19F72C9C-B818-4AA9-92C9-69DB4EE6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75" y="10953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Exploratory survey · n=73；近 12 个月有售后经历 n=56；用于发现问题，不做总体比例推断。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8" name="interview-panel">
            <a:extLst xmlns:a="http://schemas.openxmlformats.org/drawingml/2006/main">
              <a:ext uri="{FF2B5EF4-FFF2-40B4-BE49-F238E27FC236}">
                <a16:creationId xmlns:a16="http://schemas.microsoft.com/office/drawing/2014/main" id="{9B754D79-CF25-4CFD-AA2D-269AA7E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76400"/>
            <a:ext cx="3790950" cy="38481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FBF8FC"/>
          </a:solidFill>
          <a:ln xmlns:a="http://schemas.openxmlformats.org/drawingml/2006/main" w="9525">
            <a:solidFill>
              <a:srgbClr val="DDCFE3"/>
            </a:solidFill>
            <a:prstDash val="solid"/>
          </a:ln>
        </p:spPr>
      </p:sp>
      <p:sp>
        <p:nvSpPr>
          <p:cNvPr id="29" name="interview-title">
            <a:extLst xmlns:a="http://schemas.openxmlformats.org/drawingml/2006/main">
              <a:ext uri="{FF2B5EF4-FFF2-40B4-BE49-F238E27FC236}">
                <a16:creationId xmlns:a16="http://schemas.microsoft.com/office/drawing/2014/main" id="{FA8903A0-77F7-4B47-907A-AD70F685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50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rPr>
              <a:t>5 次深访引用（待补充）</a:t>
            </a:r>
          </a:p>
        </p:txBody>
      </p:sp>
      <p:sp>
        <p:nvSpPr>
          <p:cNvPr id="30" name="interview-quote-1">
            <a:extLst xmlns:a="http://schemas.openxmlformats.org/drawingml/2006/main">
              <a:ext uri="{FF2B5EF4-FFF2-40B4-BE49-F238E27FC236}">
                <a16:creationId xmlns:a16="http://schemas.microsoft.com/office/drawing/2014/main" id="{71E3F04A-0F93-45B3-9565-83FDEA18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i="1">
                <a:solidFill>
                  <a:srgbClr val="67586F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i="1">
                <a:solidFill>
                  <a:srgbClr val="67586F"/>
                </a:solidFill>
                <a:latin typeface="思源黑体 CN"/>
                <a:ea typeface="思源黑体 CN"/>
                <a:cs typeface="思源黑体 CN"/>
              </a:rPr>
              <a:t>“［待补：真实访谈原话 1］”</a:t>
            </a:r>
          </a:p>
        </p:txBody>
      </p:sp>
      <p:sp>
        <p:nvSpPr>
          <p:cNvPr id="31" name="interview-quote-2">
            <a:extLst xmlns:a="http://schemas.openxmlformats.org/drawingml/2006/main">
              <a:ext uri="{FF2B5EF4-FFF2-40B4-BE49-F238E27FC236}">
                <a16:creationId xmlns:a16="http://schemas.microsoft.com/office/drawing/2014/main" id="{014A2CE5-DF7D-46BF-9CE3-030F6F7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25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i="1">
                <a:solidFill>
                  <a:srgbClr val="67586F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i="1">
                <a:solidFill>
                  <a:srgbClr val="67586F"/>
                </a:solidFill>
                <a:latin typeface="思源黑体 CN"/>
                <a:ea typeface="思源黑体 CN"/>
                <a:cs typeface="思源黑体 CN"/>
              </a:rPr>
              <a:t>“［待补：真实访谈原话 2］”</a:t>
            </a:r>
          </a:p>
        </p:txBody>
      </p:sp>
      <p:sp>
        <p:nvSpPr>
          <p:cNvPr id="32" name="survey-reflect-title">
            <a:extLst xmlns:a="http://schemas.openxmlformats.org/drawingml/2006/main">
              <a:ext uri="{FF2B5EF4-FFF2-40B4-BE49-F238E27FC236}">
                <a16:creationId xmlns:a16="http://schemas.microsoft.com/office/drawing/2014/main" id="{CB9A2AE2-677C-43CD-B225-B9A1DE6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125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rPr>
              <a:t>调研反映</a:t>
            </a:r>
          </a:p>
        </p:txBody>
      </p:sp>
      <p:sp>
        <p:nvSpPr>
          <p:cNvPr id="33" name="survey-reflect">
            <a:extLst xmlns:a="http://schemas.openxmlformats.org/drawingml/2006/main">
              <a:ext uri="{FF2B5EF4-FFF2-40B4-BE49-F238E27FC236}">
                <a16:creationId xmlns:a16="http://schemas.microsoft.com/office/drawing/2014/main" id="{CDCCE9CD-D158-43E2-8ABB-E0B13944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3257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4354B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44354B"/>
                </a:solidFill>
                <a:latin typeface="思源黑体 CN"/>
                <a:ea typeface="思源黑体 CN"/>
                <a:cs typeface="思源黑体 CN"/>
              </a:rPr>
              <a:t>重复解释、重复索证与反复催问，是早期样本中的高摩擦环节。</a:t>
            </a:r>
          </a:p>
        </p:txBody>
      </p:sp>
      <p:sp>
        <p:nvSpPr>
          <p:cNvPr id="34" name="survey-design-title">
            <a:extLst xmlns:a="http://schemas.openxmlformats.org/drawingml/2006/main">
              <a:ext uri="{FF2B5EF4-FFF2-40B4-BE49-F238E27FC236}">
                <a16:creationId xmlns:a16="http://schemas.microsoft.com/office/drawing/2014/main" id="{1474F769-5D21-47E2-A7FD-4DEAF42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125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rPr>
              <a:t>如何服务产品设计</a:t>
            </a:r>
          </a:p>
        </p:txBody>
      </p:sp>
      <p:sp>
        <p:nvSpPr>
          <p:cNvPr id="35" name="survey-design">
            <a:extLst xmlns:a="http://schemas.openxmlformats.org/drawingml/2006/main">
              <a:ext uri="{FF2B5EF4-FFF2-40B4-BE49-F238E27FC236}">
                <a16:creationId xmlns:a16="http://schemas.microsoft.com/office/drawing/2014/main" id="{8C664F5D-6FD6-4D81-801B-8EB2EC3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625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46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44354B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44354B"/>
                </a:solidFill>
                <a:latin typeface="思源黑体 CN"/>
                <a:ea typeface="思源黑体 CN"/>
                <a:cs typeface="思源黑体 CN"/>
              </a:rPr>
              <a:t>先减少 Consumer Effort，再用客服实验验证实际效果。</a:t>
            </a:r>
          </a:p>
        </p:txBody>
      </p:sp>
    </p:spTree>
    <p:extLst>
      <p:ext uri="{BB962C8B-B14F-4D97-AF65-F5344CB8AC3E}">
        <p14:creationId xmlns:p14="http://schemas.microsoft.com/office/powerpoint/2010/main" val="1775271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B70F3226-8F8F-41C1-9DC2-F8AA2B1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作品背景与场景洞察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305009-6D57-436D-9F1C-E1F14F6E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Customer State 连接服务全过程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10C5A1B-6B63-49A6-A4C3-AAFB71D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pic>
        <p:nvPicPr>
          <p:cNvPr id="31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e2bf84e40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20" name="product-position">
            <a:extLst xmlns:a="http://schemas.openxmlformats.org/drawingml/2006/main">
              <a:ext uri="{FF2B5EF4-FFF2-40B4-BE49-F238E27FC236}">
                <a16:creationId xmlns:a16="http://schemas.microsoft.com/office/drawing/2014/main" id="{B0DB14C7-11C8-4578-B7CE-D6299A72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61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59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325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材料、承诺和下一步围绕同一消费者状态持续更新</a:t>
            </a:r>
            <a:endParaRPr sz="2325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1" name="product-material">
            <a:extLst xmlns:a="http://schemas.openxmlformats.org/drawingml/2006/main">
              <a:ext uri="{FF2B5EF4-FFF2-40B4-BE49-F238E27FC236}">
                <a16:creationId xmlns:a16="http://schemas.microsoft.com/office/drawing/2014/main" id="{935E6B27-3866-4800-900D-ABCB450C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已交材料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保留商品与问题范围，避免重复索证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2" name="product-promise">
            <a:extLst xmlns:a="http://schemas.openxmlformats.org/drawingml/2006/main">
              <a:ext uri="{FF2B5EF4-FFF2-40B4-BE49-F238E27FC236}">
                <a16:creationId xmlns:a16="http://schemas.microsoft.com/office/drawing/2014/main" id="{D92E41EA-B3ED-4204-B7F2-208767F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已有承诺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显示责任人、截止时间与当前进展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3" name="product-next">
            <a:extLst xmlns:a="http://schemas.openxmlformats.org/drawingml/2006/main">
              <a:ext uri="{FF2B5EF4-FFF2-40B4-BE49-F238E27FC236}">
                <a16:creationId xmlns:a16="http://schemas.microsoft.com/office/drawing/2014/main" id="{31A6B7C9-FF29-45F4-A69F-4C80E588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接下来的处理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80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交接后继续跟进，直到结果回写</a:t>
            </a:r>
            <a:endParaRPr sz="180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688fb29074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821" y="2105025"/>
            <a:ext cx="5009009" cy="3371850"/>
          </a:xfrm>
          <a:prstGeom xmlns:a="http://schemas.openxmlformats.org/drawingml/2006/main" prst="rect">
            <a:avLst/>
          </a:prstGeom>
        </p:spPr>
      </p:pic>
      <p:sp>
        <p:nvSpPr>
          <p:cNvPr id="25" name="handoff-caption">
            <a:extLst xmlns:a="http://schemas.openxmlformats.org/drawingml/2006/main">
              <a:ext uri="{FF2B5EF4-FFF2-40B4-BE49-F238E27FC236}">
                <a16:creationId xmlns:a16="http://schemas.microsoft.com/office/drawing/2014/main" id="{BCC6FCBB-C8C0-4879-91DB-DF54316E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6273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0">
                <a:solidFill>
                  <a:srgbClr val="6E6273"/>
                </a:solidFill>
                <a:latin typeface="思源黑体 CN"/>
                <a:ea typeface="思源黑体 CN"/>
                <a:cs typeface="思源黑体 CN"/>
              </a:rPr>
              <a:t>反映：界面把分散事实恢复成可执行状态。</a:t>
            </a:r>
            <a:endParaRPr sz="127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050" b="0">
                <a:solidFill>
                  <a:srgbClr val="6E6273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0">
                <a:solidFill>
                  <a:srgbClr val="6E6273"/>
                </a:solidFill>
                <a:latin typeface="思源黑体 CN"/>
                <a:ea typeface="思源黑体 CN"/>
                <a:cs typeface="思源黑体 CN"/>
              </a:rPr>
              <a:t>产品设计：客服先看当前状态和下一步，再展开证据。</a:t>
            </a:r>
            <a:endParaRPr sz="127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</p:spTree>
    <p:extLst>
      <p:ext uri="{BB962C8B-B14F-4D97-AF65-F5344CB8AC3E}">
        <p14:creationId xmlns:p14="http://schemas.microsoft.com/office/powerpoint/2010/main" val="1663364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8628E582-0F7A-4F05-8DD9-64424D82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24B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8B24B3"/>
                </a:solidFill>
                <a:latin typeface="思源黑体 CN Bold"/>
                <a:ea typeface="思源黑体 CN Bold"/>
                <a:cs typeface="思源黑体 CN Bold"/>
              </a:rPr>
              <a:t>COVENIA · 林小满的 Consumer Effort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EA1D21-67A9-4BEA-BEEC-CD09FD6D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一位消费者，一条持续更新的服务状态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DD6737E-4AE0-4178-B7C8-550196AD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60F2E7-4BAD-4B4E-94A6-2159BF5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5" name="axis">
            <a:extLst xmlns:a="http://schemas.openxmlformats.org/drawingml/2006/main">
              <a:ext uri="{FF2B5EF4-FFF2-40B4-BE49-F238E27FC236}">
                <a16:creationId xmlns:a16="http://schemas.microsoft.com/office/drawing/2014/main" id="{3C5D7FC1-D867-4890-84CB-6ABE5CE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19300"/>
            <a:ext cx="285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node0">
            <a:extLst xmlns:a="http://schemas.openxmlformats.org/drawingml/2006/main">
              <a:ext uri="{FF2B5EF4-FFF2-40B4-BE49-F238E27FC236}">
                <a16:creationId xmlns:a16="http://schemas.microsoft.com/office/drawing/2014/main" id="{1072CF01-63C4-4E43-84B8-B86154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nodeNo0">
            <a:extLst xmlns:a="http://schemas.openxmlformats.org/drawingml/2006/main">
              <a:ext uri="{FF2B5EF4-FFF2-40B4-BE49-F238E27FC236}">
                <a16:creationId xmlns:a16="http://schemas.microsoft.com/office/drawing/2014/main" id="{2181EF42-4319-4772-ADA6-AC90712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621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01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nodeT0">
            <a:extLst xmlns:a="http://schemas.openxmlformats.org/drawingml/2006/main">
              <a:ext uri="{FF2B5EF4-FFF2-40B4-BE49-F238E27FC236}">
                <a16:creationId xmlns:a16="http://schemas.microsoft.com/office/drawing/2014/main" id="{C12A2317-4449-4619-88F6-158B6556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907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rPr>
              <a:t>已提交材料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9" name="nodeD0">
            <a:extLst xmlns:a="http://schemas.openxmlformats.org/drawingml/2006/main">
              <a:ext uri="{FF2B5EF4-FFF2-40B4-BE49-F238E27FC236}">
                <a16:creationId xmlns:a16="http://schemas.microsoft.com/office/drawing/2014/main" id="{F8F67E56-402F-4941-9BB5-62B3816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622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“我前天图片都发过了……”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3 张照片已经进入售后记录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node1">
            <a:extLst xmlns:a="http://schemas.openxmlformats.org/drawingml/2006/main">
              <a:ext uri="{FF2B5EF4-FFF2-40B4-BE49-F238E27FC236}">
                <a16:creationId xmlns:a16="http://schemas.microsoft.com/office/drawing/2014/main" id="{26D164BB-3C35-48BA-838F-A09CDCA8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nodeNo1">
            <a:extLst xmlns:a="http://schemas.openxmlformats.org/drawingml/2006/main">
              <a:ext uri="{FF2B5EF4-FFF2-40B4-BE49-F238E27FC236}">
                <a16:creationId xmlns:a16="http://schemas.microsoft.com/office/drawing/2014/main" id="{BE084589-BFE7-4BB2-8E56-D9594F9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99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02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2" name="nodeT1">
            <a:extLst xmlns:a="http://schemas.openxmlformats.org/drawingml/2006/main">
              <a:ext uri="{FF2B5EF4-FFF2-40B4-BE49-F238E27FC236}">
                <a16:creationId xmlns:a16="http://schemas.microsoft.com/office/drawing/2014/main" id="{DF690B5B-2974-4E8F-AFA5-43FD7464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rPr>
              <a:t>再次进线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nodeD1">
            <a:extLst xmlns:a="http://schemas.openxmlformats.org/drawingml/2006/main">
              <a:ext uri="{FF2B5EF4-FFF2-40B4-BE49-F238E27FC236}">
                <a16:creationId xmlns:a16="http://schemas.microsoft.com/office/drawing/2014/main" id="{FCF6B66A-2050-4B7D-8A0A-C11185A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99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“换货到底有没有发？”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她需要重新恢复上一段服务上下文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node2">
            <a:extLst xmlns:a="http://schemas.openxmlformats.org/drawingml/2006/main">
              <a:ext uri="{FF2B5EF4-FFF2-40B4-BE49-F238E27FC236}">
                <a16:creationId xmlns:a16="http://schemas.microsoft.com/office/drawing/2014/main" id="{1086F08B-0CF0-4B20-A475-0B49EAA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nodeNo2">
            <a:extLst xmlns:a="http://schemas.openxmlformats.org/drawingml/2006/main">
              <a:ext uri="{FF2B5EF4-FFF2-40B4-BE49-F238E27FC236}">
                <a16:creationId xmlns:a16="http://schemas.microsoft.com/office/drawing/2014/main" id="{8063EDF5-3297-49D1-9607-F6A0871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576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03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6" name="nodeT2">
            <a:extLst xmlns:a="http://schemas.openxmlformats.org/drawingml/2006/main">
              <a:ext uri="{FF2B5EF4-FFF2-40B4-BE49-F238E27FC236}">
                <a16:creationId xmlns:a16="http://schemas.microsoft.com/office/drawing/2014/main" id="{83DEC3A0-527F-40DC-9488-7D3BAD21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862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500" b="1">
                <a:solidFill>
                  <a:srgbClr val="2B1737"/>
                </a:solidFill>
                <a:latin typeface="思源黑体 CN Bold"/>
                <a:ea typeface="思源黑体 CN Bold"/>
                <a:cs typeface="思源黑体 CN Bold"/>
              </a:rPr>
              <a:t>继续催问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7" name="nodeD2">
            <a:extLst xmlns:a="http://schemas.openxmlformats.org/drawingml/2006/main">
              <a:ext uri="{FF2B5EF4-FFF2-40B4-BE49-F238E27FC236}">
                <a16:creationId xmlns:a16="http://schemas.microsoft.com/office/drawing/2014/main" id="{30C7DF45-1405-4080-8389-ABDE04E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57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“我不想再反复来问了。”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675F6C"/>
                </a:solidFill>
                <a:latin typeface="思源黑体 CN"/>
                <a:ea typeface="思源黑体 CN"/>
                <a:cs typeface="思源黑体 CN"/>
              </a:rPr>
              <a:t>等待没有明确的下一次更新时间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8" name="node3">
            <a:extLst xmlns:a="http://schemas.openxmlformats.org/drawingml/2006/main">
              <a:ext uri="{FF2B5EF4-FFF2-40B4-BE49-F238E27FC236}">
                <a16:creationId xmlns:a16="http://schemas.microsoft.com/office/drawing/2014/main" id="{ABD2083E-378F-4D42-8916-D8070A2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6FA"/>
          </a:solidFill>
          <a:ln xmlns:a="http://schemas.openxmlformats.org/drawingml/2006/main" w="19050">
            <a:solidFill>
              <a:srgbClr val="7A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nodeNo3">
            <a:extLst xmlns:a="http://schemas.openxmlformats.org/drawingml/2006/main">
              <a:ext uri="{FF2B5EF4-FFF2-40B4-BE49-F238E27FC236}">
                <a16:creationId xmlns:a16="http://schemas.microsoft.com/office/drawing/2014/main" id="{54BD9779-9FA8-404C-989C-51E915C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975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0" name="nodeT3">
            <a:extLst xmlns:a="http://schemas.openxmlformats.org/drawingml/2006/main">
              <a:ext uri="{FF2B5EF4-FFF2-40B4-BE49-F238E27FC236}">
                <a16:creationId xmlns:a16="http://schemas.microsoft.com/office/drawing/2014/main" id="{6A7AF423-621E-48F4-90EF-77906DA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1" name="nodeD3">
            <a:extLst xmlns:a="http://schemas.openxmlformats.org/drawingml/2006/main">
              <a:ext uri="{FF2B5EF4-FFF2-40B4-BE49-F238E27FC236}">
                <a16:creationId xmlns:a16="http://schemas.microsoft.com/office/drawing/2014/main" id="{9E641936-A05D-4E8E-A114-05C1F4E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/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2" name="node4">
            <a:extLst xmlns:a="http://schemas.openxmlformats.org/drawingml/2006/main">
              <a:ext uri="{FF2B5EF4-FFF2-40B4-BE49-F238E27FC236}">
                <a16:creationId xmlns:a16="http://schemas.microsoft.com/office/drawing/2014/main" id="{F478BC5B-F557-459C-90BE-C62C7F0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nodeNo4">
            <a:extLst xmlns:a="http://schemas.openxmlformats.org/drawingml/2006/main">
              <a:ext uri="{FF2B5EF4-FFF2-40B4-BE49-F238E27FC236}">
                <a16:creationId xmlns:a16="http://schemas.microsoft.com/office/drawing/2014/main" id="{C53E25A6-5A43-4648-BA5E-11D05FA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4" name="nodeT4">
            <a:extLst xmlns:a="http://schemas.openxmlformats.org/drawingml/2006/main">
              <a:ext uri="{FF2B5EF4-FFF2-40B4-BE49-F238E27FC236}">
                <a16:creationId xmlns:a16="http://schemas.microsoft.com/office/drawing/2014/main" id="{77AB34CB-1EFD-4BE9-9BF8-214E56E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5" name="nodeD4">
            <a:extLst xmlns:a="http://schemas.openxmlformats.org/drawingml/2006/main">
              <a:ext uri="{FF2B5EF4-FFF2-40B4-BE49-F238E27FC236}">
                <a16:creationId xmlns:a16="http://schemas.microsoft.com/office/drawing/2014/main" id="{7BD6E8AF-478E-4F90-92B7-52E1C2E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/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6" name="node5">
            <a:extLst xmlns:a="http://schemas.openxmlformats.org/drawingml/2006/main">
              <a:ext uri="{FF2B5EF4-FFF2-40B4-BE49-F238E27FC236}">
                <a16:creationId xmlns:a16="http://schemas.microsoft.com/office/drawing/2014/main" id="{9F1C62E2-D03A-4DA8-90D5-C24E3B6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52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nodeNo5">
            <a:extLst xmlns:a="http://schemas.openxmlformats.org/drawingml/2006/main">
              <a:ext uri="{FF2B5EF4-FFF2-40B4-BE49-F238E27FC236}">
                <a16:creationId xmlns:a16="http://schemas.microsoft.com/office/drawing/2014/main" id="{CAC91564-3DA1-4B2A-81D3-F3DB919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86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8" name="nodeT5">
            <a:extLst xmlns:a="http://schemas.openxmlformats.org/drawingml/2006/main">
              <a:ext uri="{FF2B5EF4-FFF2-40B4-BE49-F238E27FC236}">
                <a16:creationId xmlns:a16="http://schemas.microsoft.com/office/drawing/2014/main" id="{AB3083F8-9A53-4872-BE7B-4D17FEF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482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9" name="nodeD5">
            <a:extLst xmlns:a="http://schemas.openxmlformats.org/drawingml/2006/main">
              <a:ext uri="{FF2B5EF4-FFF2-40B4-BE49-F238E27FC236}">
                <a16:creationId xmlns:a16="http://schemas.microsoft.com/office/drawing/2014/main" id="{A41ACEFA-2BE8-449C-9235-34BF837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/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30" name="s5band">
            <a:extLst xmlns:a="http://schemas.openxmlformats.org/drawingml/2006/main">
              <a:ext uri="{FF2B5EF4-FFF2-40B4-BE49-F238E27FC236}">
                <a16:creationId xmlns:a16="http://schemas.microsoft.com/office/drawing/2014/main" id="{AF50C59E-C0DE-4605-A35E-0309875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191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0B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5bandLabel">
            <a:extLst xmlns:a="http://schemas.openxmlformats.org/drawingml/2006/main">
              <a:ext uri="{FF2B5EF4-FFF2-40B4-BE49-F238E27FC236}">
                <a16:creationId xmlns:a16="http://schemas.microsoft.com/office/drawing/2014/main" id="{6060B009-2198-45A0-A356-B317EB23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19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3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Customer State 应持续记住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2" name="s5bandText">
            <a:extLst xmlns:a="http://schemas.openxmlformats.org/drawingml/2006/main">
              <a:ext uri="{FF2B5EF4-FFF2-40B4-BE49-F238E27FC236}">
                <a16:creationId xmlns:a16="http://schemas.microsoft.com/office/drawing/2014/main" id="{C7F93E7D-8F8B-4939-BC1D-B7E62B6A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429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/>
            </a:r>
            <a:endParaRPr sz="16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7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9a3d6aa3c46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35" name="open-model-boundary">
            <a:extLst xmlns:a="http://schemas.openxmlformats.org/drawingml/2006/main">
              <a:ext uri="{FF2B5EF4-FFF2-40B4-BE49-F238E27FC236}">
                <a16:creationId xmlns:a16="http://schemas.microsoft.com/office/drawing/2014/main" id="{72CC55CA-C5D9-4AEA-B893-2892937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35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rPr>
              <a:t>反映：Consumer Effort 在重复确认中累积。产品设计：下一位客服直接从已记录状态继续处理。</a:t>
            </a:r>
            <a:endParaRPr sz="127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7" name="state-title-1">
            <a:extLst xmlns:a="http://schemas.openxmlformats.org/drawingml/2006/main">
              <a:ext uri="{FF2B5EF4-FFF2-40B4-BE49-F238E27FC236}">
                <a16:creationId xmlns:a16="http://schemas.microsoft.com/office/drawing/2014/main" id="{D654BB57-8171-4F34-9D84-DDC08304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01  Evidence</a:t>
            </a:r>
          </a:p>
        </p:txBody>
      </p:sp>
      <p:sp>
        <p:nvSpPr>
          <p:cNvPr id="38" name="state-detail-1">
            <a:extLst xmlns:a="http://schemas.openxmlformats.org/drawingml/2006/main">
              <a:ext uri="{FF2B5EF4-FFF2-40B4-BE49-F238E27FC236}">
                <a16:creationId xmlns:a16="http://schemas.microsoft.com/office/drawing/2014/main" id="{071E54B5-AF3C-4E61-B66A-F67A3E3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瓶身、泵头、包装照片 ×3</a:t>
            </a:r>
          </a:p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状态：已收到</a:t>
            </a:r>
          </a:p>
        </p:txBody>
      </p:sp>
      <p:sp>
        <p:nvSpPr>
          <p:cNvPr id="39" name="state-title-2">
            <a:extLst xmlns:a="http://schemas.openxmlformats.org/drawingml/2006/main">
              <a:ext uri="{FF2B5EF4-FFF2-40B4-BE49-F238E27FC236}">
                <a16:creationId xmlns:a16="http://schemas.microsoft.com/office/drawing/2014/main" id="{3F393D53-9177-4A04-A258-4F7BF59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02  Promise</a:t>
            </a:r>
          </a:p>
        </p:txBody>
      </p:sp>
      <p:sp>
        <p:nvSpPr>
          <p:cNvPr id="40" name="state-detail-2">
            <a:extLst xmlns:a="http://schemas.openxmlformats.org/drawingml/2006/main">
              <a:ext uri="{FF2B5EF4-FFF2-40B4-BE49-F238E27FC236}">
                <a16:creationId xmlns:a16="http://schemas.microsoft.com/office/drawing/2014/main" id="{1863DF70-C72E-4AB4-AF4F-3008A1D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换货单已创建</a:t>
            </a:r>
          </a:p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承诺：48h 内发出</a:t>
            </a:r>
          </a:p>
        </p:txBody>
      </p:sp>
      <p:sp>
        <p:nvSpPr>
          <p:cNvPr id="41" name="state-title-3">
            <a:extLst xmlns:a="http://schemas.openxmlformats.org/drawingml/2006/main">
              <a:ext uri="{FF2B5EF4-FFF2-40B4-BE49-F238E27FC236}">
                <a16:creationId xmlns:a16="http://schemas.microsoft.com/office/drawing/2014/main" id="{400CAB46-312B-4741-AF65-CAF1686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03  Responsibility</a:t>
            </a:r>
          </a:p>
        </p:txBody>
      </p:sp>
      <p:sp>
        <p:nvSpPr>
          <p:cNvPr id="42" name="state-detail-3">
            <a:extLst xmlns:a="http://schemas.openxmlformats.org/drawingml/2006/main">
              <a:ext uri="{FF2B5EF4-FFF2-40B4-BE49-F238E27FC236}">
                <a16:creationId xmlns:a16="http://schemas.microsoft.com/office/drawing/2014/main" id="{E026344D-DC79-4B5C-BF9A-C5BCA8A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核实物流进度</a:t>
            </a:r>
          </a:p>
          <a:p xmlns:a="http://schemas.openxmlformats.org/drawingml/2006/main">
            <a:pPr>
              <a:buNone/>
              <a:def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>
                <a:solidFill>
                  <a:srgbClr val="E8DDED"/>
                </a:solidFill>
                <a:latin typeface="思源黑体 CN"/>
                <a:ea typeface="思源黑体 CN"/>
                <a:cs typeface="思源黑体 CN"/>
              </a:rPr>
              <a:t>约定主动更新并回写结果</a:t>
            </a:r>
          </a:p>
        </p:txBody>
      </p:sp>
    </p:spTree>
    <p:extLst>
      <p:ext uri="{BB962C8B-B14F-4D97-AF65-F5344CB8AC3E}">
        <p14:creationId xmlns:p14="http://schemas.microsoft.com/office/powerpoint/2010/main" val="1183896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8628E582-0F7A-4F05-8DD9-64424D82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技术方案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EA1D21-67A9-4BEA-BEEC-CD09FD6D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同一个 Customer State 驱动理解、判断与履约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ADD6737E-4AE0-4178-B7C8-550196AD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60F2E7-4BAD-4B4E-94A6-2159BF53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5" name="axis">
            <a:extLst xmlns:a="http://schemas.openxmlformats.org/drawingml/2006/main">
              <a:ext uri="{FF2B5EF4-FFF2-40B4-BE49-F238E27FC236}">
                <a16:creationId xmlns:a16="http://schemas.microsoft.com/office/drawing/2014/main" id="{3C5D7FC1-D867-4890-84CB-6ABE5CE9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node0">
            <a:extLst xmlns:a="http://schemas.openxmlformats.org/drawingml/2006/main">
              <a:ext uri="{FF2B5EF4-FFF2-40B4-BE49-F238E27FC236}">
                <a16:creationId xmlns:a16="http://schemas.microsoft.com/office/drawing/2014/main" id="{1072CF01-63C4-4E43-84B8-B861540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nodeNo0">
            <a:extLst xmlns:a="http://schemas.openxmlformats.org/drawingml/2006/main">
              <a:ext uri="{FF2B5EF4-FFF2-40B4-BE49-F238E27FC236}">
                <a16:creationId xmlns:a16="http://schemas.microsoft.com/office/drawing/2014/main" id="{2181EF42-4319-4772-ADA6-AC90712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01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nodeT0">
            <a:extLst xmlns:a="http://schemas.openxmlformats.org/drawingml/2006/main">
              <a:ext uri="{FF2B5EF4-FFF2-40B4-BE49-F238E27FC236}">
                <a16:creationId xmlns:a16="http://schemas.microsoft.com/office/drawing/2014/main" id="{C12A2317-4449-4619-88F6-158B6556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多源输入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9" name="nodeD0">
            <a:extLst xmlns:a="http://schemas.openxmlformats.org/drawingml/2006/main">
              <a:ext uri="{FF2B5EF4-FFF2-40B4-BE49-F238E27FC236}">
                <a16:creationId xmlns:a16="http://schemas.microsoft.com/office/drawing/2014/main" id="{F8F67E56-402F-4941-9BB5-62B3816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聊天、订单、售后工单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node1">
            <a:extLst xmlns:a="http://schemas.openxmlformats.org/drawingml/2006/main">
              <a:ext uri="{FF2B5EF4-FFF2-40B4-BE49-F238E27FC236}">
                <a16:creationId xmlns:a16="http://schemas.microsoft.com/office/drawing/2014/main" id="{26D164BB-3C35-48BA-838F-A09CDCA8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nodeNo1">
            <a:extLst xmlns:a="http://schemas.openxmlformats.org/drawingml/2006/main">
              <a:ext uri="{FF2B5EF4-FFF2-40B4-BE49-F238E27FC236}">
                <a16:creationId xmlns:a16="http://schemas.microsoft.com/office/drawing/2014/main" id="{BE084589-BFE7-4BB2-8E56-D9594F94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02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2" name="nodeT1">
            <a:extLst xmlns:a="http://schemas.openxmlformats.org/drawingml/2006/main">
              <a:ext uri="{FF2B5EF4-FFF2-40B4-BE49-F238E27FC236}">
                <a16:creationId xmlns:a16="http://schemas.microsoft.com/office/drawing/2014/main" id="{DF690B5B-2974-4E8F-AFA5-43FD7464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模型理解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nodeD1">
            <a:extLst xmlns:a="http://schemas.openxmlformats.org/drawingml/2006/main">
              <a:ext uri="{FF2B5EF4-FFF2-40B4-BE49-F238E27FC236}">
                <a16:creationId xmlns:a16="http://schemas.microsoft.com/office/drawing/2014/main" id="{FCF6B66A-2050-4B7D-8A0A-C11185A0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Qwen 已接入并配置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JEV 沟通判断已调用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node2">
            <a:extLst xmlns:a="http://schemas.openxmlformats.org/drawingml/2006/main">
              <a:ext uri="{FF2B5EF4-FFF2-40B4-BE49-F238E27FC236}">
                <a16:creationId xmlns:a16="http://schemas.microsoft.com/office/drawing/2014/main" id="{1086F08B-0CF0-4B20-A475-0B49EAAE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nodeNo2">
            <a:extLst xmlns:a="http://schemas.openxmlformats.org/drawingml/2006/main">
              <a:ext uri="{FF2B5EF4-FFF2-40B4-BE49-F238E27FC236}">
                <a16:creationId xmlns:a16="http://schemas.microsoft.com/office/drawing/2014/main" id="{8063EDF5-3297-49D1-9607-F6A0871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03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6" name="nodeT2">
            <a:extLst xmlns:a="http://schemas.openxmlformats.org/drawingml/2006/main">
              <a:ext uri="{FF2B5EF4-FFF2-40B4-BE49-F238E27FC236}">
                <a16:creationId xmlns:a16="http://schemas.microsoft.com/office/drawing/2014/main" id="{83DEC3A0-527F-40DC-9488-7D3BAD21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状态融合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7" name="nodeD2">
            <a:extLst xmlns:a="http://schemas.openxmlformats.org/drawingml/2006/main">
              <a:ext uri="{FF2B5EF4-FFF2-40B4-BE49-F238E27FC236}">
                <a16:creationId xmlns:a16="http://schemas.microsoft.com/office/drawing/2014/main" id="{30C7DF45-1405-4080-8389-ABDE04E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统一事实与来源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版本化 Customer State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8" name="node3">
            <a:extLst xmlns:a="http://schemas.openxmlformats.org/drawingml/2006/main">
              <a:ext uri="{FF2B5EF4-FFF2-40B4-BE49-F238E27FC236}">
                <a16:creationId xmlns:a16="http://schemas.microsoft.com/office/drawing/2014/main" id="{ABD2083E-378F-4D42-8916-D8070A2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6FA"/>
          </a:solidFill>
          <a:ln xmlns:a="http://schemas.openxmlformats.org/drawingml/2006/main" w="19050">
            <a:solidFill>
              <a:srgbClr val="7A1F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nodeNo3">
            <a:extLst xmlns:a="http://schemas.openxmlformats.org/drawingml/2006/main">
              <a:ext uri="{FF2B5EF4-FFF2-40B4-BE49-F238E27FC236}">
                <a16:creationId xmlns:a16="http://schemas.microsoft.com/office/drawing/2014/main" id="{54BD9779-9FA8-404C-989C-51E915C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04</a:t>
            </a:r>
            <a:endParaRPr sz="975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0" name="nodeT3">
            <a:extLst xmlns:a="http://schemas.openxmlformats.org/drawingml/2006/main">
              <a:ext uri="{FF2B5EF4-FFF2-40B4-BE49-F238E27FC236}">
                <a16:creationId xmlns:a16="http://schemas.microsoft.com/office/drawing/2014/main" id="{6A7AF423-621E-48F4-90EF-77906DA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规则选路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1" name="nodeD3">
            <a:extLst xmlns:a="http://schemas.openxmlformats.org/drawingml/2006/main">
              <a:ext uri="{FF2B5EF4-FFF2-40B4-BE49-F238E27FC236}">
                <a16:creationId xmlns:a16="http://schemas.microsoft.com/office/drawing/2014/main" id="{9E641936-A05D-4E8E-A114-05C1F4E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证据范围与风险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禁止动作检查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2" name="node4">
            <a:extLst xmlns:a="http://schemas.openxmlformats.org/drawingml/2006/main">
              <a:ext uri="{FF2B5EF4-FFF2-40B4-BE49-F238E27FC236}">
                <a16:creationId xmlns:a16="http://schemas.microsoft.com/office/drawing/2014/main" id="{F478BC5B-F557-459C-90BE-C62C7F09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nodeNo4">
            <a:extLst xmlns:a="http://schemas.openxmlformats.org/drawingml/2006/main">
              <a:ext uri="{FF2B5EF4-FFF2-40B4-BE49-F238E27FC236}">
                <a16:creationId xmlns:a16="http://schemas.microsoft.com/office/drawing/2014/main" id="{C53E25A6-5A43-4648-BA5E-11D05FA6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05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4" name="nodeT4">
            <a:extLst xmlns:a="http://schemas.openxmlformats.org/drawingml/2006/main">
              <a:ext uri="{FF2B5EF4-FFF2-40B4-BE49-F238E27FC236}">
                <a16:creationId xmlns:a16="http://schemas.microsoft.com/office/drawing/2014/main" id="{77AB34CB-1EFD-4BE9-9BF8-214E56E2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人工确认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5" name="nodeD4">
            <a:extLst xmlns:a="http://schemas.openxmlformats.org/drawingml/2006/main">
              <a:ext uri="{FF2B5EF4-FFF2-40B4-BE49-F238E27FC236}">
                <a16:creationId xmlns:a16="http://schemas.microsoft.com/office/drawing/2014/main" id="{7BD6E8AF-478E-4F90-92B7-52E1C2E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确认责任与更新时间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批准后写入服务记录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6" name="node5">
            <a:extLst xmlns:a="http://schemas.openxmlformats.org/drawingml/2006/main">
              <a:ext uri="{FF2B5EF4-FFF2-40B4-BE49-F238E27FC236}">
                <a16:creationId xmlns:a16="http://schemas.microsoft.com/office/drawing/2014/main" id="{9F1C62E2-D03A-4DA8-90D5-C24E3B6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nodeNo5">
            <a:extLst xmlns:a="http://schemas.openxmlformats.org/drawingml/2006/main">
              <a:ext uri="{FF2B5EF4-FFF2-40B4-BE49-F238E27FC236}">
                <a16:creationId xmlns:a16="http://schemas.microsoft.com/office/drawing/2014/main" id="{CAC91564-3DA1-4B2A-81D3-F3DB919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97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06</a:t>
            </a:r>
            <a:endParaRPr sz="975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8" name="nodeT5">
            <a:extLst xmlns:a="http://schemas.openxmlformats.org/drawingml/2006/main">
              <a:ext uri="{FF2B5EF4-FFF2-40B4-BE49-F238E27FC236}">
                <a16:creationId xmlns:a16="http://schemas.microsoft.com/office/drawing/2014/main" id="{AB3083F8-9A53-4872-BE7B-4D17FEF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14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持续履约</a:t>
            </a:r>
            <a:endParaRPr sz="16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9" name="nodeD5">
            <a:extLst xmlns:a="http://schemas.openxmlformats.org/drawingml/2006/main">
              <a:ext uri="{FF2B5EF4-FFF2-40B4-BE49-F238E27FC236}">
                <a16:creationId xmlns:a16="http://schemas.microsoft.com/office/drawing/2014/main" id="{A41ACEFA-2BE8-449C-9235-34BF837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00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逾期、升级与物流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35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结果回写后继续检查</a:t>
            </a:r>
            <a:endParaRPr sz="135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30" name="s5band">
            <a:extLst xmlns:a="http://schemas.openxmlformats.org/drawingml/2006/main">
              <a:ext uri="{FF2B5EF4-FFF2-40B4-BE49-F238E27FC236}">
                <a16:creationId xmlns:a16="http://schemas.microsoft.com/office/drawing/2014/main" id="{AF50C59E-C0DE-4605-A35E-0309875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15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0B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5bandLabel">
            <a:extLst xmlns:a="http://schemas.openxmlformats.org/drawingml/2006/main">
              <a:ext uri="{FF2B5EF4-FFF2-40B4-BE49-F238E27FC236}">
                <a16:creationId xmlns:a16="http://schemas.microsoft.com/office/drawing/2014/main" id="{6060B009-2198-45A0-A356-B317EB23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Agent 运行机制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2" name="s5bandText">
            <a:extLst xmlns:a="http://schemas.openxmlformats.org/drawingml/2006/main">
              <a:ext uri="{FF2B5EF4-FFF2-40B4-BE49-F238E27FC236}">
                <a16:creationId xmlns:a16="http://schemas.microsoft.com/office/drawing/2014/main" id="{C7F93E7D-8F8B-4939-BC1D-B7E62B6A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42585"/>
            <a:ext cx="10182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读取服务状态，提出下一动作，调用工具，接收结果后再次判断。</a:t>
            </a:r>
            <a:endParaRPr sz="16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71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78f3cc70041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35" name="open-model-boundary">
            <a:extLst xmlns:a="http://schemas.openxmlformats.org/drawingml/2006/main">
              <a:ext uri="{FF2B5EF4-FFF2-40B4-BE49-F238E27FC236}">
                <a16:creationId xmlns:a16="http://schemas.microsoft.com/office/drawing/2014/main" id="{72CC55CA-C5D9-4AEA-B893-28929370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7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反映：模型信号不会直接发送或改写责任。产品设计：软信号进入决策，硬规则和人工控制动作。</a:t>
            </a:r>
            <a:endParaRPr sz="127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7" name="architecture-headline">
            <a:extLst xmlns:a="http://schemas.openxmlformats.org/drawingml/2006/main">
              <a:ext uri="{FF2B5EF4-FFF2-40B4-BE49-F238E27FC236}">
                <a16:creationId xmlns:a16="http://schemas.microsoft.com/office/drawing/2014/main" id="{81DDC41B-B47B-4311-A881-20A1ACA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7E1FA3"/>
                </a:solidFill>
                <a:latin typeface="思源黑体 CN Bold"/>
                <a:ea typeface="思源黑体 CN Bold"/>
                <a:cs typeface="思源黑体 CN Bold"/>
              </a:rPr>
              <a:t>Qwen 负责理解，JEV 辅助判断，规则守住边界，人工确认动作，Covenia 持续记住。</a:t>
            </a:r>
          </a:p>
        </p:txBody>
      </p:sp>
    </p:spTree>
    <p:extLst>
      <p:ext uri="{BB962C8B-B14F-4D97-AF65-F5344CB8AC3E}">
        <p14:creationId xmlns:p14="http://schemas.microsoft.com/office/powerpoint/2010/main" val="1183896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CCE578C3-DF82-4A53-BA8F-FCB8318F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24B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8B24B3"/>
                </a:solidFill>
                <a:latin typeface="思源黑体 CN Bold"/>
                <a:ea typeface="思源黑体 CN Bold"/>
                <a:cs typeface="思源黑体 CN Bold"/>
              </a:rPr>
              <a:t>COVENIA · 模型能力与产品行为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CCA832-D131-421C-B4D9-9B7926AA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从理解消费者到决定如何回应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0495904-BED8-4D1C-B379-54D17245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pic>
        <p:nvPicPr>
          <p:cNvPr id="38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bb79edffd44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22" name="jev-before-label">
            <a:extLst xmlns:a="http://schemas.openxmlformats.org/drawingml/2006/main">
              <a:ext uri="{FF2B5EF4-FFF2-40B4-BE49-F238E27FC236}">
                <a16:creationId xmlns:a16="http://schemas.microsoft.com/office/drawing/2014/main" id="{6CDF7CB6-88F7-4DFC-A358-2A9E07F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3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此前表达（赛事虚拟语料）</a:t>
            </a:r>
            <a:endParaRPr sz="1350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3" name="jev-before">
            <a:extLst xmlns:a="http://schemas.openxmlformats.org/drawingml/2006/main">
              <a:ext uri="{FF2B5EF4-FFF2-40B4-BE49-F238E27FC236}">
                <a16:creationId xmlns:a16="http://schemas.microsoft.com/office/drawing/2014/main" id="{A0088144-D5C3-4B4F-9DF4-1E6BD5B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5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“行，那尽快哈”</a:t>
            </a:r>
            <a:endParaRPr sz="255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4" name="jev-after-label">
            <a:extLst xmlns:a="http://schemas.openxmlformats.org/drawingml/2006/main">
              <a:ext uri="{FF2B5EF4-FFF2-40B4-BE49-F238E27FC236}">
                <a16:creationId xmlns:a16="http://schemas.microsoft.com/office/drawing/2014/main" id="{12095527-0CDE-48F5-93A1-7D02CD4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3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再次进线（团队扩展输入）</a:t>
            </a:r>
            <a:endParaRPr sz="1350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5" name="jev-after">
            <a:extLst xmlns:a="http://schemas.openxmlformats.org/drawingml/2006/main">
              <a:ext uri="{FF2B5EF4-FFF2-40B4-BE49-F238E27FC236}">
                <a16:creationId xmlns:a16="http://schemas.microsoft.com/office/drawing/2014/main" id="{AB12C973-F1FC-488C-8245-D5FF9A6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“我前天图片都发过了，</a:t>
            </a:r>
            <a:endParaRPr sz="217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换货到底有没有发？</a:t>
            </a:r>
            <a:endParaRPr sz="217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17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怎么还要我重新说明？”</a:t>
            </a:r>
            <a:endParaRPr sz="217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6" name="jev-software-effect">
            <a:extLst xmlns:a="http://schemas.openxmlformats.org/drawingml/2006/main">
              <a:ext uri="{FF2B5EF4-FFF2-40B4-BE49-F238E27FC236}">
                <a16:creationId xmlns:a16="http://schemas.microsoft.com/office/drawing/2014/main" id="{8FCA2222-65F0-43AD-8FF4-04C2A158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Customer State 如何进入决策</a:t>
            </a:r>
            <a:endParaRPr sz="1725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7" name="jev-effect-copy">
            <a:extLst xmlns:a="http://schemas.openxmlformats.org/drawingml/2006/main">
              <a:ext uri="{FF2B5EF4-FFF2-40B4-BE49-F238E27FC236}">
                <a16:creationId xmlns:a16="http://schemas.microsoft.com/office/drawing/2014/main" id="{F2A49BEF-2006-491C-8B52-5B6B4EE0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JEV 提供沟通恶化的未校准概率，</a:t>
            </a:r>
            <a:endParaRPr sz="165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并调整已准备回复的排序。</a:t>
            </a:r>
            <a:endParaRPr sz="165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pic>
        <p:nvPicPr>
          <p:cNvPr id="4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356fe631c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847850"/>
            <a:ext cx="4914900" cy="2297430"/>
          </a:xfrm>
          <a:prstGeom xmlns:a="http://schemas.openxmlformats.org/drawingml/2006/main" prst="rect">
            <a:avLst/>
          </a:prstGeom>
        </p:spPr>
      </p:pic>
      <p:sp>
        <p:nvSpPr>
          <p:cNvPr id="29" name="jev-reply-label">
            <a:extLst xmlns:a="http://schemas.openxmlformats.org/drawingml/2006/main">
              <a:ext uri="{FF2B5EF4-FFF2-40B4-BE49-F238E27FC236}">
                <a16:creationId xmlns:a16="http://schemas.microsoft.com/office/drawing/2014/main" id="{4A19FD70-EBBD-4A17-8C65-6A9F3BEF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9102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优先推荐的回复节选</a:t>
            </a:r>
            <a:endParaRPr sz="1650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0" name="jev-reply">
            <a:extLst xmlns:a="http://schemas.openxmlformats.org/drawingml/2006/main">
              <a:ext uri="{FF2B5EF4-FFF2-40B4-BE49-F238E27FC236}">
                <a16:creationId xmlns:a16="http://schemas.microsoft.com/office/drawing/2014/main" id="{4A2FE44C-B8B1-4663-80D8-FA2FE99A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72025"/>
            <a:ext cx="4914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“让您反复询问换货进度，抱歉。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泵头照片我们已经收到，不需要重复提交。”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1" name="jev-rule-boundary">
            <a:extLst xmlns:a="http://schemas.openxmlformats.org/drawingml/2006/main">
              <a:ext uri="{FF2B5EF4-FFF2-40B4-BE49-F238E27FC236}">
                <a16:creationId xmlns:a16="http://schemas.microsoft.com/office/drawing/2014/main" id="{06BAE9AF-6EEE-4A76-BC63-0377A178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产品设计：Qwen 理解事件，JEV 判断响应优先级，规则限定动作，客服确认发送。</a:t>
            </a:r>
            <a:endParaRPr sz="120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2" name="jev-source">
            <a:extLst xmlns:a="http://schemas.openxmlformats.org/drawingml/2006/main">
              <a:ext uri="{FF2B5EF4-FFF2-40B4-BE49-F238E27FC236}">
                <a16:creationId xmlns:a16="http://schemas.microsoft.com/office/drawing/2014/main" id="{6BA4251F-7F15-43BD-A9C3-8AD7F78B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反映：96% 是当次未校准模型输出，只能作为早期信号，不能作为准确率或自动升级依据。</a:t>
            </a:r>
            <a:endParaRPr sz="120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</p:spTree>
    <p:extLst>
      <p:ext uri="{BB962C8B-B14F-4D97-AF65-F5344CB8AC3E}">
        <p14:creationId xmlns:p14="http://schemas.microsoft.com/office/powerpoint/2010/main" val="1581762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A0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2EA5DBAD-18AE-471F-974C-E615E16D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COVENIA · Anticipate / Risk Journey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504E0D-0F7C-4223-89D9-186444E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风险在消费者再次投诉前逐步积累</a:t>
            </a:r>
            <a:endParaRPr sz="25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DC8828A-0EDD-4996-8045-A540D30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A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84E7FD-6758-4528-89D7-1280053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C9B3D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col0">
            <a:extLst xmlns:a="http://schemas.openxmlformats.org/drawingml/2006/main">
              <a:ext uri="{FF2B5EF4-FFF2-40B4-BE49-F238E27FC236}">
                <a16:creationId xmlns:a16="http://schemas.microsoft.com/office/drawing/2014/main" id="{5CB9B8E5-3220-45E4-AF01-C2AD99C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4A1668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lT0">
            <a:extLst xmlns:a="http://schemas.openxmlformats.org/drawingml/2006/main">
              <a:ext uri="{FF2B5EF4-FFF2-40B4-BE49-F238E27FC236}">
                <a16:creationId xmlns:a16="http://schemas.microsoft.com/office/drawing/2014/main" id="{30D49B11-2979-4320-A4DD-7C79DB5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T1｜首次反馈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col0r0">
            <a:extLst xmlns:a="http://schemas.openxmlformats.org/drawingml/2006/main">
              <a:ext uri="{FF2B5EF4-FFF2-40B4-BE49-F238E27FC236}">
                <a16:creationId xmlns:a16="http://schemas.microsoft.com/office/drawing/2014/main" id="{9A3B8326-8AB5-4059-BA71-4F602323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沟通语气平稳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9" name="col0r1">
            <a:extLst xmlns:a="http://schemas.openxmlformats.org/drawingml/2006/main">
              <a:ext uri="{FF2B5EF4-FFF2-40B4-BE49-F238E27FC236}">
                <a16:creationId xmlns:a16="http://schemas.microsoft.com/office/drawing/2014/main" id="{29DE5C41-9A4B-4593-ABF5-ED105CF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材料已经提交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col0r2">
            <a:extLst xmlns:a="http://schemas.openxmlformats.org/drawingml/2006/main">
              <a:ext uri="{FF2B5EF4-FFF2-40B4-BE49-F238E27FC236}">
                <a16:creationId xmlns:a16="http://schemas.microsoft.com/office/drawing/2014/main" id="{5F583155-38ED-44DD-B0FD-C6448B5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Risk 21｜记录事实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1" name="col1">
            <a:extLst xmlns:a="http://schemas.openxmlformats.org/drawingml/2006/main">
              <a:ext uri="{FF2B5EF4-FFF2-40B4-BE49-F238E27FC236}">
                <a16:creationId xmlns:a16="http://schemas.microsoft.com/office/drawing/2014/main" id="{1FABC38A-1649-4661-A470-751553B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45185F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olT1">
            <a:extLst xmlns:a="http://schemas.openxmlformats.org/drawingml/2006/main">
              <a:ext uri="{FF2B5EF4-FFF2-40B4-BE49-F238E27FC236}">
                <a16:creationId xmlns:a16="http://schemas.microsoft.com/office/drawing/2014/main" id="{5C352CDF-9111-4F14-A36B-1E881FC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T2｜重复联系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col1r0">
            <a:extLst xmlns:a="http://schemas.openxmlformats.org/drawingml/2006/main">
              <a:ext uri="{FF2B5EF4-FFF2-40B4-BE49-F238E27FC236}">
                <a16:creationId xmlns:a16="http://schemas.microsoft.com/office/drawing/2014/main" id="{58376665-0383-4FFD-A448-FDD638AB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沟通耐心下降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col1r1">
            <a:extLst xmlns:a="http://schemas.openxmlformats.org/drawingml/2006/main">
              <a:ext uri="{FF2B5EF4-FFF2-40B4-BE49-F238E27FC236}">
                <a16:creationId xmlns:a16="http://schemas.microsoft.com/office/drawing/2014/main" id="{067E7520-C65C-4285-AF08-50292C2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Consumer Effort 上升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5" name="col1r2">
            <a:extLst xmlns:a="http://schemas.openxmlformats.org/drawingml/2006/main">
              <a:ext uri="{FF2B5EF4-FFF2-40B4-BE49-F238E27FC236}">
                <a16:creationId xmlns:a16="http://schemas.microsoft.com/office/drawing/2014/main" id="{D5B15260-B266-4C79-9AA2-F2FB941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Risk 46｜调整响应优先级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6" name="col2">
            <a:extLst xmlns:a="http://schemas.openxmlformats.org/drawingml/2006/main">
              <a:ext uri="{FF2B5EF4-FFF2-40B4-BE49-F238E27FC236}">
                <a16:creationId xmlns:a16="http://schemas.microsoft.com/office/drawing/2014/main" id="{043EDDCF-B08A-4C8A-A92A-9609747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1E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lT2">
            <a:extLst xmlns:a="http://schemas.openxmlformats.org/drawingml/2006/main">
              <a:ext uri="{FF2B5EF4-FFF2-40B4-BE49-F238E27FC236}">
                <a16:creationId xmlns:a16="http://schemas.microsoft.com/office/drawing/2014/main" id="{00DD075E-D54E-400C-9224-1B52957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T3｜承诺临期</a:t>
            </a:r>
            <a:endParaRPr sz="16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8" name="col2r0">
            <a:extLst xmlns:a="http://schemas.openxmlformats.org/drawingml/2006/main">
              <a:ext uri="{FF2B5EF4-FFF2-40B4-BE49-F238E27FC236}">
                <a16:creationId xmlns:a16="http://schemas.microsoft.com/office/drawing/2014/main" id="{8F51212D-4BBF-4146-BC41-2FBC9DE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48 小时换货将超时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9" name="col2r1">
            <a:extLst xmlns:a="http://schemas.openxmlformats.org/drawingml/2006/main">
              <a:ext uri="{FF2B5EF4-FFF2-40B4-BE49-F238E27FC236}">
                <a16:creationId xmlns:a16="http://schemas.microsoft.com/office/drawing/2014/main" id="{4C7DD800-2F8D-4549-AF37-1A5AFE7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Risk 71｜触发主动提醒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0" name="col2r2">
            <a:extLst xmlns:a="http://schemas.openxmlformats.org/drawingml/2006/main">
              <a:ext uri="{FF2B5EF4-FFF2-40B4-BE49-F238E27FC236}">
                <a16:creationId xmlns:a16="http://schemas.microsoft.com/office/drawing/2014/main" id="{E8F9B072-6859-408A-8BF3-7BEF3A2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客服确认后更新消费者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1" name="s10band">
            <a:extLst xmlns:a="http://schemas.openxmlformats.org/drawingml/2006/main">
              <a:ext uri="{FF2B5EF4-FFF2-40B4-BE49-F238E27FC236}">
                <a16:creationId xmlns:a16="http://schemas.microsoft.com/office/drawing/2014/main" id="{C239AF22-BA7B-41C3-B1D4-E78CF58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8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10bandText">
            <a:extLst xmlns:a="http://schemas.openxmlformats.org/drawingml/2006/main">
              <a:ext uri="{FF2B5EF4-FFF2-40B4-BE49-F238E27FC236}">
                <a16:creationId xmlns:a16="http://schemas.microsoft.com/office/drawing/2014/main" id="{8B4CD882-D40B-4397-9D2D-E68B4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反映：情绪、重复联系和承诺时序共同形成早期信号。设计：Risk Radar 只排序和提醒，不覆盖规则或自动升级。</a:t>
            </a:r>
            <a:endParaRPr sz="180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4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6ae99cfc4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6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EFC1078D-F88B-43A4-BF24-71BAE1AB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核心功能演示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86F92A-7840-40AD-8F49-1547964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聊天结束，责任继续履行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8229B31B-C9B0-4DCB-866D-C63FF1D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74f3d25074b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28" name="followup-step">
            <a:extLst xmlns:a="http://schemas.openxmlformats.org/drawingml/2006/main">
              <a:ext uri="{FF2B5EF4-FFF2-40B4-BE49-F238E27FC236}">
                <a16:creationId xmlns:a16="http://schemas.microsoft.com/office/drawing/2014/main" id="{C3E5B806-08D0-4B78-93BB-960CE92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9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01  Promise 逾期后主动更新</a:t>
            </a:r>
            <a:endParaRPr sz="1950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pic>
        <p:nvPicPr>
          <p:cNvPr id="46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619b9edad47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144" y="2238375"/>
            <a:ext cx="5256711" cy="1676400"/>
          </a:xfrm>
          <a:prstGeom xmlns:a="http://schemas.openxmlformats.org/drawingml/2006/main" prst="rect">
            <a:avLst/>
          </a:prstGeom>
        </p:spPr>
      </p:pic>
      <p:sp>
        <p:nvSpPr>
          <p:cNvPr id="30" name="followup-action">
            <a:extLst xmlns:a="http://schemas.openxmlformats.org/drawingml/2006/main">
              <a:ext uri="{FF2B5EF4-FFF2-40B4-BE49-F238E27FC236}">
                <a16:creationId xmlns:a16="http://schemas.microsoft.com/office/drawing/2014/main" id="{CEC78C93-357D-45E6-84EC-E5BD4AD0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确认通知后，处理进度写入会话</a:t>
            </a:r>
            <a:endParaRPr sz="1650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pic>
        <p:nvPicPr>
          <p:cNvPr id="48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1b34f83d1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830" y="4638675"/>
            <a:ext cx="5255339" cy="817245"/>
          </a:xfrm>
          <a:prstGeom xmlns:a="http://schemas.openxmlformats.org/drawingml/2006/main" prst="rect">
            <a:avLst/>
          </a:prstGeom>
        </p:spPr>
      </p:pic>
      <p:sp>
        <p:nvSpPr>
          <p:cNvPr id="32" name="complete-step">
            <a:extLst xmlns:a="http://schemas.openxmlformats.org/drawingml/2006/main">
              <a:ext uri="{FF2B5EF4-FFF2-40B4-BE49-F238E27FC236}">
                <a16:creationId xmlns:a16="http://schemas.microsoft.com/office/drawing/2014/main" id="{143FF136-82C3-4A5D-B402-83F1503E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2402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95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02  Delivered 后回写责任状态</a:t>
            </a:r>
            <a:endParaRPr sz="1950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pic>
        <p:nvPicPr>
          <p:cNvPr id="50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9ffaca775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216" y="2238375"/>
            <a:ext cx="3333567" cy="3232785"/>
          </a:xfrm>
          <a:prstGeom xmlns:a="http://schemas.openxmlformats.org/drawingml/2006/main" prst="rect">
            <a:avLst/>
          </a:prstGeom>
        </p:spPr>
      </p:pic>
      <p:sp>
        <p:nvSpPr>
          <p:cNvPr id="34" name="followup-takeaway">
            <a:extLst xmlns:a="http://schemas.openxmlformats.org/drawingml/2006/main">
              <a:ext uri="{FF2B5EF4-FFF2-40B4-BE49-F238E27FC236}">
                <a16:creationId xmlns:a16="http://schemas.microsoft.com/office/drawing/2014/main" id="{BCE2168B-18D0-4B6D-8405-812964F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反映：消息回复完成，不代表服务责任完成。</a:t>
            </a:r>
            <a:endParaRPr sz="165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5" name="complete-takeaway">
            <a:extLst xmlns:a="http://schemas.openxmlformats.org/drawingml/2006/main">
              <a:ext uri="{FF2B5EF4-FFF2-40B4-BE49-F238E27FC236}">
                <a16:creationId xmlns:a16="http://schemas.microsoft.com/office/drawing/2014/main" id="{D8593ACF-BB5C-4625-838F-9FD66662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29275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产品设计：Deadline Monitor 提醒，送达事件关闭责任。</a:t>
            </a:r>
            <a:endParaRPr sz="1650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6" name="scenario-boundary">
            <a:extLst xmlns:a="http://schemas.openxmlformats.org/drawingml/2006/main">
              <a:ext uri="{FF2B5EF4-FFF2-40B4-BE49-F238E27FC236}">
                <a16:creationId xmlns:a16="http://schemas.microsoft.com/office/drawing/2014/main" id="{D53E1CF1-AB2A-48EB-A515-F0EFA6F9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本地原型操作截图。时间和物流事件由模拟操作触发，主动消息需人工确认。</a:t>
            </a:r>
            <a:endParaRPr sz="120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</p:spTree>
    <p:extLst>
      <p:ext uri="{BB962C8B-B14F-4D97-AF65-F5344CB8AC3E}">
        <p14:creationId xmlns:p14="http://schemas.microsoft.com/office/powerpoint/2010/main" val="433039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A1BB74FB-5323-465A-82CC-8CD44FFB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COVENIA · 核心功能演示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E9745F-3A37-4095-A011-9E1CAFBC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3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41033"/>
                </a:solidFill>
                <a:latin typeface="思源黑体 CN Bold"/>
                <a:ea typeface="思源黑体 CN Bold"/>
                <a:cs typeface="思源黑体 CN Bold"/>
              </a:rPr>
              <a:t>同一 Customer State 生成三种可解释决策</a:t>
            </a:r>
            <a:endParaRPr sz="2550" b="1">
              <a:solidFill>
                <a:srgbClr val="241033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3" name="divider">
            <a:extLst xmlns:a="http://schemas.openxmlformats.org/drawingml/2006/main">
              <a:ext uri="{FF2B5EF4-FFF2-40B4-BE49-F238E27FC236}">
                <a16:creationId xmlns:a16="http://schemas.microsoft.com/office/drawing/2014/main" id="{EC61B7FE-92FE-40DA-B55B-C9C6B673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7D74FA2-C6C2-487D-82A7-9AC25119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8A8494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8A8494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5" name="row0">
            <a:extLst xmlns:a="http://schemas.openxmlformats.org/drawingml/2006/main">
              <a:ext uri="{FF2B5EF4-FFF2-40B4-BE49-F238E27FC236}">
                <a16:creationId xmlns:a16="http://schemas.microsoft.com/office/drawing/2014/main" id="{A47842E7-7D94-46C7-8400-F445D173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wBar0">
            <a:extLst xmlns:a="http://schemas.openxmlformats.org/drawingml/2006/main">
              <a:ext uri="{FF2B5EF4-FFF2-40B4-BE49-F238E27FC236}">
                <a16:creationId xmlns:a16="http://schemas.microsoft.com/office/drawing/2014/main" id="{DC79D8A0-6E84-48BF-B7B7-109E040D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1E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wCode0">
            <a:extLst xmlns:a="http://schemas.openxmlformats.org/drawingml/2006/main">
              <a:ext uri="{FF2B5EF4-FFF2-40B4-BE49-F238E27FC236}">
                <a16:creationId xmlns:a16="http://schemas.microsoft.com/office/drawing/2014/main" id="{D7CA2769-8515-4C49-BD4E-DFA60A22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A81E7A"/>
                </a:solidFill>
                <a:latin typeface="思源黑体 CN Bold"/>
                <a:ea typeface="思源黑体 CN Bold"/>
                <a:cs typeface="思源黑体 CN Bold"/>
              </a:rPr>
              <a:t>拦截重复索证</a:t>
            </a:r>
            <a:endParaRPr sz="1800" b="1">
              <a:solidFill>
                <a:srgbClr val="A81E7A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rowRule0">
            <a:extLst xmlns:a="http://schemas.openxmlformats.org/drawingml/2006/main">
              <a:ext uri="{FF2B5EF4-FFF2-40B4-BE49-F238E27FC236}">
                <a16:creationId xmlns:a16="http://schemas.microsoft.com/office/drawing/2014/main" id="{A9AF2CBC-7394-4738-AF8F-FBA569EF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同一商品、同一问题，证据已齐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9" name="rowDesc0">
            <a:extLst xmlns:a="http://schemas.openxmlformats.org/drawingml/2006/main">
              <a:ext uri="{FF2B5EF4-FFF2-40B4-BE49-F238E27FC236}">
                <a16:creationId xmlns:a16="http://schemas.microsoft.com/office/drawing/2014/main" id="{0A71AEC4-5B27-4318-A6EF-CF7C86B8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同一范围的证据已经提交，却再次索证。阻止发送，指向已有的换货与补发进度。</a:t>
            </a:r>
            <a:endParaRPr sz="120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row1">
            <a:extLst xmlns:a="http://schemas.openxmlformats.org/drawingml/2006/main">
              <a:ext uri="{FF2B5EF4-FFF2-40B4-BE49-F238E27FC236}">
                <a16:creationId xmlns:a16="http://schemas.microsoft.com/office/drawing/2014/main" id="{6820C899-39A7-45F2-820B-FAE994A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wBar1">
            <a:extLst xmlns:a="http://schemas.openxmlformats.org/drawingml/2006/main">
              <a:ext uri="{FF2B5EF4-FFF2-40B4-BE49-F238E27FC236}">
                <a16:creationId xmlns:a16="http://schemas.microsoft.com/office/drawing/2014/main" id="{FA7C7232-6C7C-43EA-88A5-3B13BD28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A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wCode1">
            <a:extLst xmlns:a="http://schemas.openxmlformats.org/drawingml/2006/main">
              <a:ext uri="{FF2B5EF4-FFF2-40B4-BE49-F238E27FC236}">
                <a16:creationId xmlns:a16="http://schemas.microsoft.com/office/drawing/2014/main" id="{5D541BB3-DCFF-4A4D-831F-C49020B1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仅补当前缺失材料</a:t>
            </a:r>
            <a:endParaRPr sz="180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rowRule1">
            <a:extLst xmlns:a="http://schemas.openxmlformats.org/drawingml/2006/main">
              <a:ext uri="{FF2B5EF4-FFF2-40B4-BE49-F238E27FC236}">
                <a16:creationId xmlns:a16="http://schemas.microsoft.com/office/drawing/2014/main" id="{5F34A6CC-F82A-49B1-8403-07D48067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正装精华与赠品材料分开核对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4" name="rowDesc1">
            <a:extLst xmlns:a="http://schemas.openxmlformats.org/drawingml/2006/main">
              <a:ext uri="{FF2B5EF4-FFF2-40B4-BE49-F238E27FC236}">
                <a16:creationId xmlns:a16="http://schemas.microsoft.com/office/drawing/2014/main" id="{639DA621-8B3F-4A1F-BBC1-32D59272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赠品面膜照片不能证明正装精华瓶口问题；只补当前范围缺少的近照。</a:t>
            </a:r>
            <a:endParaRPr sz="120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5" name="row2">
            <a:extLst xmlns:a="http://schemas.openxmlformats.org/drawingml/2006/main">
              <a:ext uri="{FF2B5EF4-FFF2-40B4-BE49-F238E27FC236}">
                <a16:creationId xmlns:a16="http://schemas.microsoft.com/office/drawing/2014/main" id="{02D28185-DB1F-4CF1-B6F9-B818E848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F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wBar2">
            <a:extLst xmlns:a="http://schemas.openxmlformats.org/drawingml/2006/main">
              <a:ext uri="{FF2B5EF4-FFF2-40B4-BE49-F238E27FC236}">
                <a16:creationId xmlns:a16="http://schemas.microsoft.com/office/drawing/2014/main" id="{6D809718-3FFA-42BE-8AF0-DAF2337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7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6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wCode2">
            <a:extLst xmlns:a="http://schemas.openxmlformats.org/drawingml/2006/main">
              <a:ext uri="{FF2B5EF4-FFF2-40B4-BE49-F238E27FC236}">
                <a16:creationId xmlns:a16="http://schemas.microsoft.com/office/drawing/2014/main" id="{77FCF036-B24A-4FBB-89C8-15317A70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86000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D86000"/>
                </a:solidFill>
                <a:latin typeface="思源黑体 CN Bold"/>
                <a:ea typeface="思源黑体 CN Bold"/>
                <a:cs typeface="思源黑体 CN Bold"/>
              </a:rPr>
              <a:t>转人工核实</a:t>
            </a:r>
            <a:endParaRPr sz="1800" b="1">
              <a:solidFill>
                <a:srgbClr val="D86000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8" name="rowRule2">
            <a:extLst xmlns:a="http://schemas.openxmlformats.org/drawingml/2006/main">
              <a:ext uri="{FF2B5EF4-FFF2-40B4-BE49-F238E27FC236}">
                <a16:creationId xmlns:a16="http://schemas.microsoft.com/office/drawing/2014/main" id="{E71CF49E-3ED4-41D8-8281-FFA6ED87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使用不适等高风险反馈谨慎处理</a:t>
            </a:r>
            <a:endParaRPr sz="10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9" name="rowDesc2">
            <a:extLst xmlns:a="http://schemas.openxmlformats.org/drawingml/2006/main">
              <a:ext uri="{FF2B5EF4-FFF2-40B4-BE49-F238E27FC236}">
                <a16:creationId xmlns:a16="http://schemas.microsoft.com/office/drawing/2014/main" id="{C000E7FD-AD2E-420F-9941-AECA9F5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图片模糊、商品不可识别或涉及不良反应。转人工复核，不直接作出证据结论。</a:t>
            </a:r>
            <a:endParaRPr sz="1200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0" name="s8band">
            <a:extLst xmlns:a="http://schemas.openxmlformats.org/drawingml/2006/main">
              <a:ext uri="{FF2B5EF4-FFF2-40B4-BE49-F238E27FC236}">
                <a16:creationId xmlns:a16="http://schemas.microsoft.com/office/drawing/2014/main" id="{1D7D30D2-EB89-4DE0-A075-7D142345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0B5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8bandLabel">
            <a:extLst xmlns:a="http://schemas.openxmlformats.org/drawingml/2006/main">
              <a:ext uri="{FF2B5EF4-FFF2-40B4-BE49-F238E27FC236}">
                <a16:creationId xmlns:a16="http://schemas.microsoft.com/office/drawing/2014/main" id="{F17A39A5-21BE-4453-850E-3F21BAC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反映与设计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2" name="s8bandText">
            <a:extLst xmlns:a="http://schemas.openxmlformats.org/drawingml/2006/main">
              <a:ext uri="{FF2B5EF4-FFF2-40B4-BE49-F238E27FC236}">
                <a16:creationId xmlns:a16="http://schemas.microsoft.com/office/drawing/2014/main" id="{99E242EE-70C4-4EF1-9225-D97EF1C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2135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同一句“再发照片”，会因证据范围和风险状态得到不同处理。规则链区分拦截、补充材料和人工复核。</a:t>
            </a:r>
            <a:endParaRPr sz="16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47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030e7369249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06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8f9f0a9604c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  <p:sp>
        <p:nvSpPr>
          <p:cNvPr id="28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54B8C941-645F-42B9-B02D-D70B4A8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050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COVENIA · 落地价值与验证计划</a:t>
            </a:r>
            <a:endParaRPr sz="1050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29" name="value-title">
            <a:extLst xmlns:a="http://schemas.openxmlformats.org/drawingml/2006/main">
              <a:ext uri="{FF2B5EF4-FFF2-40B4-BE49-F238E27FC236}">
                <a16:creationId xmlns:a16="http://schemas.microsoft.com/office/drawing/2014/main" id="{62E7A9B2-FE3A-47CF-9D23-9B0B3DF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3000" b="1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产品能力与验证指标一一对应</a:t>
            </a:r>
            <a:endParaRPr sz="3000" b="1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0" name="task-label">
            <a:extLst xmlns:a="http://schemas.openxmlformats.org/drawingml/2006/main">
              <a:ext uri="{FF2B5EF4-FFF2-40B4-BE49-F238E27FC236}">
                <a16:creationId xmlns:a16="http://schemas.microsoft.com/office/drawing/2014/main" id="{4829E36B-C169-4DF5-B0B2-C4DE8192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65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同一任务对照：用相同案例验证服务连续性是否降低消费者与客服的额外成本</a:t>
            </a:r>
            <a:endParaRPr sz="165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1" name="manual-title">
            <a:extLst xmlns:a="http://schemas.openxmlformats.org/drawingml/2006/main">
              <a:ext uri="{FF2B5EF4-FFF2-40B4-BE49-F238E27FC236}">
                <a16:creationId xmlns:a16="http://schemas.microsoft.com/office/drawing/2014/main" id="{3B6482F7-2E06-4723-A34A-0B727D4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025" b="1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Covenia 能力</a:t>
            </a:r>
            <a:endParaRPr sz="2025" b="1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2" name="agent-title">
            <a:extLst xmlns:a="http://schemas.openxmlformats.org/drawingml/2006/main">
              <a:ext uri="{FF2B5EF4-FFF2-40B4-BE49-F238E27FC236}">
                <a16:creationId xmlns:a16="http://schemas.microsoft.com/office/drawing/2014/main" id="{530B46A8-0435-4092-BE45-D7FC0A02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2025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验证指标</a:t>
            </a:r>
            <a:endParaRPr sz="2025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3" name="manual-0">
            <a:extLst xmlns:a="http://schemas.openxmlformats.org/drawingml/2006/main">
              <a:ext uri="{FF2B5EF4-FFF2-40B4-BE49-F238E27FC236}">
                <a16:creationId xmlns:a16="http://schemas.microsoft.com/office/drawing/2014/main" id="{2D40CA82-9940-44E1-9922-DA5752C3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Customer State + Handoff</a:t>
            </a:r>
            <a:endParaRPr sz="172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4" name="agent-0">
            <a:extLst xmlns:a="http://schemas.openxmlformats.org/drawingml/2006/main">
              <a:ext uri="{FF2B5EF4-FFF2-40B4-BE49-F238E27FC236}">
                <a16:creationId xmlns:a16="http://schemas.microsoft.com/office/drawing/2014/main" id="{B4D7BF46-B50D-454D-B323-8AC35E6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8607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恢复上下文耗时、重复解释率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5" name="manual-1">
            <a:extLst xmlns:a="http://schemas.openxmlformats.org/drawingml/2006/main">
              <a:ext uri="{FF2B5EF4-FFF2-40B4-BE49-F238E27FC236}">
                <a16:creationId xmlns:a16="http://schemas.microsoft.com/office/drawing/2014/main" id="{BE566552-7E15-417A-95F9-880204F8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Don't Ask Again</a:t>
            </a:r>
            <a:endParaRPr sz="172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6" name="agent-1">
            <a:extLst xmlns:a="http://schemas.openxmlformats.org/drawingml/2006/main">
              <a:ext uri="{FF2B5EF4-FFF2-40B4-BE49-F238E27FC236}">
                <a16:creationId xmlns:a16="http://schemas.microsoft.com/office/drawing/2014/main" id="{934DD147-BC1F-482F-9EE0-73FAD0CC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3852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重复索证率、必要证据误拦截率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7" name="manual-2">
            <a:extLst xmlns:a="http://schemas.openxmlformats.org/drawingml/2006/main">
              <a:ext uri="{FF2B5EF4-FFF2-40B4-BE49-F238E27FC236}">
                <a16:creationId xmlns:a16="http://schemas.microsoft.com/office/drawing/2014/main" id="{CA59851C-9468-4639-8ADC-3058EC19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JEV + Next Best Action</a:t>
            </a:r>
            <a:endParaRPr sz="172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8" name="agent-2">
            <a:extLst xmlns:a="http://schemas.openxmlformats.org/drawingml/2006/main">
              <a:ext uri="{FF2B5EF4-FFF2-40B4-BE49-F238E27FC236}">
                <a16:creationId xmlns:a16="http://schemas.microsoft.com/office/drawing/2014/main" id="{4F1F0627-A943-4977-9C9D-F7A75321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9097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正确下一动作率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39" name="manual-3">
            <a:extLst xmlns:a="http://schemas.openxmlformats.org/drawingml/2006/main">
              <a:ext uri="{FF2B5EF4-FFF2-40B4-BE49-F238E27FC236}">
                <a16:creationId xmlns:a16="http://schemas.microsoft.com/office/drawing/2014/main" id="{366E8975-1830-4934-9769-33573268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Promise Monitor</a:t>
            </a:r>
            <a:endParaRPr sz="1725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40" name="agent-3">
            <a:extLst xmlns:a="http://schemas.openxmlformats.org/drawingml/2006/main">
              <a:ext uri="{FF2B5EF4-FFF2-40B4-BE49-F238E27FC236}">
                <a16:creationId xmlns:a16="http://schemas.microsoft.com/office/drawing/2014/main" id="{13DB5901-3008-4EDB-9113-F0FB2928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4342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按时更新率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41" name="pilot-label">
            <a:extLst xmlns:a="http://schemas.openxmlformats.org/drawingml/2006/main">
              <a:ext uri="{FF2B5EF4-FFF2-40B4-BE49-F238E27FC236}">
                <a16:creationId xmlns:a16="http://schemas.microsoft.com/office/drawing/2014/main" id="{1E3994A3-7B46-4EA2-8762-3D0218D0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1">
                <a:solidFill>
                  <a:srgbClr val="762199"/>
                </a:solidFill>
                <a:latin typeface="思源黑体 CN"/>
                <a:ea typeface="思源黑体 CN"/>
                <a:cs typeface="思源黑体 CN"/>
              </a:rPr>
              <a:t>反映与设计</a:t>
            </a:r>
            <a:endParaRPr sz="1725" b="1">
              <a:solidFill>
                <a:srgbClr val="762199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42" name="pilot-metrics">
            <a:extLst xmlns:a="http://schemas.openxmlformats.org/drawingml/2006/main">
              <a:ext uri="{FF2B5EF4-FFF2-40B4-BE49-F238E27FC236}">
                <a16:creationId xmlns:a16="http://schemas.microsoft.com/office/drawing/2014/main" id="{2803AA7F-937D-4ECC-BE86-0BDECE14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81625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725" b="0">
                <a:solidFill>
                  <a:srgbClr val="261235"/>
                </a:solidFill>
                <a:latin typeface="思源黑体 CN"/>
                <a:ea typeface="思源黑体 CN"/>
                <a:cs typeface="思源黑体 CN"/>
              </a:rPr>
              <a:t>指标与能力一一对应，下一步用同任务实验验证，不用原型行为替代真实收益。</a:t>
            </a:r>
            <a:endParaRPr sz="1725" b="0">
              <a:solidFill>
                <a:srgbClr val="261235"/>
              </a:solidFill>
              <a:latin typeface="思源黑体 CN"/>
              <a:ea typeface="思源黑体 CN"/>
              <a:cs typeface="思源黑体 CN"/>
            </a:endParaRPr>
          </a:p>
        </p:txBody>
      </p:sp>
      <p:sp>
        <p:nvSpPr>
          <p:cNvPr id="43" name="pilot-limit">
            <a:extLst xmlns:a="http://schemas.openxmlformats.org/drawingml/2006/main">
              <a:ext uri="{FF2B5EF4-FFF2-40B4-BE49-F238E27FC236}">
                <a16:creationId xmlns:a16="http://schemas.microsoft.com/office/drawing/2014/main" id="{0C3FC495-5896-417A-BFE5-AAFA2633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1200" b="0">
                <a:solidFill>
                  <a:srgbClr val="5B5666"/>
                </a:solidFill>
                <a:latin typeface="思源黑体 CN"/>
                <a:ea typeface="思源黑体 CN"/>
                <a:cs typeface="思源黑体 CN"/>
              </a:rPr>
              <a:t>当前没有真实客服对照结果。页面定义验证方法，不代表已经测得效率提升。</a:t>
            </a:r>
            <a:endParaRPr sz="1200" b="0">
              <a:solidFill>
                <a:srgbClr val="5B5666"/>
              </a:solidFill>
              <a:latin typeface="思源黑体 CN"/>
              <a:ea typeface="思源黑体 CN"/>
              <a:cs typeface="思源黑体 CN"/>
            </a:endParaRPr>
          </a:p>
        </p:txBody>
      </p:sp>
    </p:spTree>
    <p:extLst>
      <p:ext uri="{BB962C8B-B14F-4D97-AF65-F5344CB8AC3E}">
        <p14:creationId xmlns:p14="http://schemas.microsoft.com/office/powerpoint/2010/main" val="1850295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A0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2EA5DBAD-18AE-471F-974C-E615E16D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COVENIA · 落地价值与未来规划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504E0D-0F7C-4223-89D9-186444E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验证与落地路线</a:t>
            </a:r>
            <a:endParaRPr sz="25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DC8828A-0EDD-4996-8045-A540D30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A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84E7FD-6758-4528-89D7-1280053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C9B3D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col0">
            <a:extLst xmlns:a="http://schemas.openxmlformats.org/drawingml/2006/main">
              <a:ext uri="{FF2B5EF4-FFF2-40B4-BE49-F238E27FC236}">
                <a16:creationId xmlns:a16="http://schemas.microsoft.com/office/drawing/2014/main" id="{5CB9B8E5-3220-45E4-AF01-C2AD99C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4A1668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lT0">
            <a:extLst xmlns:a="http://schemas.openxmlformats.org/drawingml/2006/main">
              <a:ext uri="{FF2B5EF4-FFF2-40B4-BE49-F238E27FC236}">
                <a16:creationId xmlns:a16="http://schemas.microsoft.com/office/drawing/2014/main" id="{30D49B11-2979-4320-A4DD-7C79DB5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模型验证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col0r0">
            <a:extLst xmlns:a="http://schemas.openxmlformats.org/drawingml/2006/main">
              <a:ext uri="{FF2B5EF4-FFF2-40B4-BE49-F238E27FC236}">
                <a16:creationId xmlns:a16="http://schemas.microsoft.com/office/drawing/2014/main" id="{9A3B8326-8AB5-4059-BA71-4F602323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优化 Qwen 开源文本 Agent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9" name="col0r1">
            <a:extLst xmlns:a="http://schemas.openxmlformats.org/drawingml/2006/main">
              <a:ext uri="{FF2B5EF4-FFF2-40B4-BE49-F238E27FC236}">
                <a16:creationId xmlns:a16="http://schemas.microsoft.com/office/drawing/2014/main" id="{29DE5C41-9A4B-4593-ABF5-ED105CF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独立标注与留出样本评测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col0r2">
            <a:extLst xmlns:a="http://schemas.openxmlformats.org/drawingml/2006/main">
              <a:ext uri="{FF2B5EF4-FFF2-40B4-BE49-F238E27FC236}">
                <a16:creationId xmlns:a16="http://schemas.microsoft.com/office/drawing/2014/main" id="{5F583155-38ED-44DD-B0FD-C6448B5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实测延迟、Token 与单次成本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1" name="col1">
            <a:extLst xmlns:a="http://schemas.openxmlformats.org/drawingml/2006/main">
              <a:ext uri="{FF2B5EF4-FFF2-40B4-BE49-F238E27FC236}">
                <a16:creationId xmlns:a16="http://schemas.microsoft.com/office/drawing/2014/main" id="{1FABC38A-1649-4661-A470-751553B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45185F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olT1">
            <a:extLst xmlns:a="http://schemas.openxmlformats.org/drawingml/2006/main">
              <a:ext uri="{FF2B5EF4-FFF2-40B4-BE49-F238E27FC236}">
                <a16:creationId xmlns:a16="http://schemas.microsoft.com/office/drawing/2014/main" id="{5C352CDF-9111-4F14-A36B-1E881FC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客服试点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col1r0">
            <a:extLst xmlns:a="http://schemas.openxmlformats.org/drawingml/2006/main">
              <a:ext uri="{FF2B5EF4-FFF2-40B4-BE49-F238E27FC236}">
                <a16:creationId xmlns:a16="http://schemas.microsoft.com/office/drawing/2014/main" id="{58376665-0383-4FFD-A448-FDD638AB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同任务对照处理耗时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col1r1">
            <a:extLst xmlns:a="http://schemas.openxmlformats.org/drawingml/2006/main">
              <a:ext uri="{FF2B5EF4-FFF2-40B4-BE49-F238E27FC236}">
                <a16:creationId xmlns:a16="http://schemas.microsoft.com/office/drawing/2014/main" id="{067E7520-C65C-4285-AF08-50292C2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记录错问与误拦截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5" name="col1r2">
            <a:extLst xmlns:a="http://schemas.openxmlformats.org/drawingml/2006/main">
              <a:ext uri="{FF2B5EF4-FFF2-40B4-BE49-F238E27FC236}">
                <a16:creationId xmlns:a16="http://schemas.microsoft.com/office/drawing/2014/main" id="{D5B15260-B266-4C79-9AA2-F2FB941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验证按时更新率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6" name="col2">
            <a:extLst xmlns:a="http://schemas.openxmlformats.org/drawingml/2006/main">
              <a:ext uri="{FF2B5EF4-FFF2-40B4-BE49-F238E27FC236}">
                <a16:creationId xmlns:a16="http://schemas.microsoft.com/office/drawing/2014/main" id="{043EDDCF-B08A-4C8A-A92A-9609747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1E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lT2">
            <a:extLst xmlns:a="http://schemas.openxmlformats.org/drawingml/2006/main">
              <a:ext uri="{FF2B5EF4-FFF2-40B4-BE49-F238E27FC236}">
                <a16:creationId xmlns:a16="http://schemas.microsoft.com/office/drawing/2014/main" id="{00DD075E-D54E-400C-9224-1B52957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业务接入</a:t>
            </a:r>
            <a:endParaRPr sz="16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8" name="col2r0">
            <a:extLst xmlns:a="http://schemas.openxmlformats.org/drawingml/2006/main">
              <a:ext uri="{FF2B5EF4-FFF2-40B4-BE49-F238E27FC236}">
                <a16:creationId xmlns:a16="http://schemas.microsoft.com/office/drawing/2014/main" id="{8F51212D-4BBF-4146-BC41-2FBC9DE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连接真实千牛与物流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9" name="col2r1">
            <a:extLst xmlns:a="http://schemas.openxmlformats.org/drawingml/2006/main">
              <a:ext uri="{FF2B5EF4-FFF2-40B4-BE49-F238E27FC236}">
                <a16:creationId xmlns:a16="http://schemas.microsoft.com/office/drawing/2014/main" id="{4C7DD800-2F8D-4549-AF37-1A5AFE7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持久化服务状态与审计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0" name="col2r2">
            <a:extLst xmlns:a="http://schemas.openxmlformats.org/drawingml/2006/main">
              <a:ext uri="{FF2B5EF4-FFF2-40B4-BE49-F238E27FC236}">
                <a16:creationId xmlns:a16="http://schemas.microsoft.com/office/drawing/2014/main" id="{E8F9B072-6859-408A-8BF3-7BEF3A2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接入主管风险跟踪看板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1" name="s10band">
            <a:extLst xmlns:a="http://schemas.openxmlformats.org/drawingml/2006/main">
              <a:ext uri="{FF2B5EF4-FFF2-40B4-BE49-F238E27FC236}">
                <a16:creationId xmlns:a16="http://schemas.microsoft.com/office/drawing/2014/main" id="{C239AF22-BA7B-41C3-B1D4-E78CF58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8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10bandText">
            <a:extLst xmlns:a="http://schemas.openxmlformats.org/drawingml/2006/main">
              <a:ext uri="{FF2B5EF4-FFF2-40B4-BE49-F238E27FC236}">
                <a16:creationId xmlns:a16="http://schemas.microsoft.com/office/drawing/2014/main" id="{8B4CD882-D40B-4397-9D2D-E68B4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Qwen 已接入并完成配置，结合 JEV 沟通判断与规则闭环。真实业务渠道仍待接入。</a:t>
            </a:r>
            <a:endParaRPr sz="180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4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a78f1ee29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6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3A0B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2EA5DBAD-18AE-471F-974C-E615E16D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0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COVENIA · 落地价值与未来规划</a:t>
            </a:r>
            <a:endParaRPr sz="10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504E0D-0F7C-4223-89D9-186444E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从可运行原型到可验证产品</a:t>
            </a:r>
            <a:endParaRPr sz="255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4" name="divider">
            <a:extLst xmlns:a="http://schemas.openxmlformats.org/drawingml/2006/main">
              <a:ext uri="{FF2B5EF4-FFF2-40B4-BE49-F238E27FC236}">
                <a16:creationId xmlns:a16="http://schemas.microsoft.com/office/drawing/2014/main" id="{2DC8828A-0EDD-4996-8045-A540D30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A76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84E7FD-6758-4528-89D7-1280053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900" b="0">
                <a:solidFill>
                  <a:srgbClr val="C9B3DE"/>
                </a:solidFill>
                <a:latin typeface="思源黑体 CN Light"/>
                <a:ea typeface="思源黑体 CN Light"/>
                <a:cs typeface="思源黑体 CN Light"/>
              </a:rPr>
              <a:t>Covenia｜比赛原型说明 · 2026.10</a:t>
            </a:r>
            <a:endParaRPr sz="900" b="0">
              <a:solidFill>
                <a:srgbClr val="C9B3D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6" name="col0">
            <a:extLst xmlns:a="http://schemas.openxmlformats.org/drawingml/2006/main">
              <a:ext uri="{FF2B5EF4-FFF2-40B4-BE49-F238E27FC236}">
                <a16:creationId xmlns:a16="http://schemas.microsoft.com/office/drawing/2014/main" id="{5CB9B8E5-3220-45E4-AF01-C2AD99C2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4A1668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colT0">
            <a:extLst xmlns:a="http://schemas.openxmlformats.org/drawingml/2006/main">
              <a:ext uri="{FF2B5EF4-FFF2-40B4-BE49-F238E27FC236}">
                <a16:creationId xmlns:a16="http://schemas.microsoft.com/office/drawing/2014/main" id="{30D49B11-2979-4320-A4DD-7C79DB5C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H1  Customer State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8" name="col0r0">
            <a:extLst xmlns:a="http://schemas.openxmlformats.org/drawingml/2006/main">
              <a:ext uri="{FF2B5EF4-FFF2-40B4-BE49-F238E27FC236}">
                <a16:creationId xmlns:a16="http://schemas.microsoft.com/office/drawing/2014/main" id="{9A3B8326-8AB5-4059-BA71-4F602323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3/3 设计案例，状态 8/8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9" name="col0r1">
            <a:extLst xmlns:a="http://schemas.openxmlformats.org/drawingml/2006/main">
              <a:ext uri="{FF2B5EF4-FFF2-40B4-BE49-F238E27FC236}">
                <a16:creationId xmlns:a16="http://schemas.microsoft.com/office/drawing/2014/main" id="{29DE5C41-9A4B-4593-ABF5-ED105CFF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完整恢复已有材料与承诺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0" name="col0r2">
            <a:extLst xmlns:a="http://schemas.openxmlformats.org/drawingml/2006/main">
              <a:ext uri="{FF2B5EF4-FFF2-40B4-BE49-F238E27FC236}">
                <a16:creationId xmlns:a16="http://schemas.microsoft.com/office/drawing/2014/main" id="{5F583155-38ED-44DD-B0FD-C6448B5A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业务效率待真人验证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1" name="col1">
            <a:extLst xmlns:a="http://schemas.openxmlformats.org/drawingml/2006/main">
              <a:ext uri="{FF2B5EF4-FFF2-40B4-BE49-F238E27FC236}">
                <a16:creationId xmlns:a16="http://schemas.microsoft.com/office/drawing/2014/main" id="{1FABC38A-1649-4661-A470-751553B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4290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45185F"/>
          </a:solidFill>
          <a:ln xmlns:a="http://schemas.openxmlformats.org/drawingml/2006/main" w="9525">
            <a:solidFill>
              <a:srgbClr val="6B3A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colT1">
            <a:extLst xmlns:a="http://schemas.openxmlformats.org/drawingml/2006/main">
              <a:ext uri="{FF2B5EF4-FFF2-40B4-BE49-F238E27FC236}">
                <a16:creationId xmlns:a16="http://schemas.microsoft.com/office/drawing/2014/main" id="{5C352CDF-9111-4F14-A36B-1E881FC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E9D5F7"/>
                </a:solidFill>
                <a:latin typeface="思源黑体 CN Bold"/>
                <a:ea typeface="思源黑体 CN Bold"/>
                <a:cs typeface="思源黑体 CN Bold"/>
              </a:rPr>
              <a:t>H2  Experience Firewall</a:t>
            </a:r>
            <a:endParaRPr sz="1650" b="1">
              <a:solidFill>
                <a:srgbClr val="E9D5F7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3" name="col1r0">
            <a:extLst xmlns:a="http://schemas.openxmlformats.org/drawingml/2006/main">
              <a:ext uri="{FF2B5EF4-FFF2-40B4-BE49-F238E27FC236}">
                <a16:creationId xmlns:a16="http://schemas.microsoft.com/office/drawing/2014/main" id="{58376665-0383-4FFD-A448-FDD638AB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38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拦截 / 放行 / 人工复核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4" name="col1r1">
            <a:extLst xmlns:a="http://schemas.openxmlformats.org/drawingml/2006/main">
              <a:ext uri="{FF2B5EF4-FFF2-40B4-BE49-F238E27FC236}">
                <a16:creationId xmlns:a16="http://schemas.microsoft.com/office/drawing/2014/main" id="{067E7520-C65C-4285-AF08-50292C2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57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3/3 边界行为符合预期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5" name="col1r2">
            <a:extLst xmlns:a="http://schemas.openxmlformats.org/drawingml/2006/main">
              <a:ext uri="{FF2B5EF4-FFF2-40B4-BE49-F238E27FC236}">
                <a16:creationId xmlns:a16="http://schemas.microsoft.com/office/drawing/2014/main" id="{D5B15260-B266-4C79-9AA2-F2FB941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DCC6EE"/>
                </a:solidFill>
                <a:latin typeface="思源黑体 CN Light"/>
                <a:ea typeface="思源黑体 CN Light"/>
                <a:cs typeface="思源黑体 CN Light"/>
              </a:rPr>
              <a:t>生产准确率仍待验证</a:t>
            </a:r>
            <a:endParaRPr sz="1125" b="0">
              <a:solidFill>
                <a:srgbClr val="DCC6EE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6" name="col2">
            <a:extLst xmlns:a="http://schemas.openxmlformats.org/drawingml/2006/main">
              <a:ext uri="{FF2B5EF4-FFF2-40B4-BE49-F238E27FC236}">
                <a16:creationId xmlns:a16="http://schemas.microsoft.com/office/drawing/2014/main" id="{043EDDCF-B08A-4C8A-A92A-9609747F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4290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1E6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lT2">
            <a:extLst xmlns:a="http://schemas.openxmlformats.org/drawingml/2006/main">
              <a:ext uri="{FF2B5EF4-FFF2-40B4-BE49-F238E27FC236}">
                <a16:creationId xmlns:a16="http://schemas.microsoft.com/office/drawing/2014/main" id="{00DD075E-D54E-400C-9224-1B529576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650" b="1">
                <a:solidFill>
                  <a:srgbClr val="7A1FA2"/>
                </a:solidFill>
                <a:latin typeface="思源黑体 CN Bold"/>
                <a:ea typeface="思源黑体 CN Bold"/>
                <a:cs typeface="思源黑体 CN Bold"/>
              </a:rPr>
              <a:t>H4  Promise Monitor</a:t>
            </a:r>
            <a:endParaRPr sz="1650" b="1">
              <a:solidFill>
                <a:srgbClr val="7A1FA2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sp>
        <p:nvSpPr>
          <p:cNvPr id="18" name="col2r0">
            <a:extLst xmlns:a="http://schemas.openxmlformats.org/drawingml/2006/main">
              <a:ext uri="{FF2B5EF4-FFF2-40B4-BE49-F238E27FC236}">
                <a16:creationId xmlns:a16="http://schemas.microsoft.com/office/drawing/2014/main" id="{8F51212D-4BBF-4146-BC41-2FBC9DE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承诺进入截止时间监控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9" name="col2r1">
            <a:extLst xmlns:a="http://schemas.openxmlformats.org/drawingml/2006/main">
              <a:ext uri="{FF2B5EF4-FFF2-40B4-BE49-F238E27FC236}">
                <a16:creationId xmlns:a16="http://schemas.microsoft.com/office/drawing/2014/main" id="{4C7DD800-2F8D-4549-AF37-1A5AFE7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逾期仅升级一次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0" name="col2r2">
            <a:extLst xmlns:a="http://schemas.openxmlformats.org/drawingml/2006/main">
              <a:ext uri="{FF2B5EF4-FFF2-40B4-BE49-F238E27FC236}">
                <a16:creationId xmlns:a16="http://schemas.microsoft.com/office/drawing/2014/main" id="{E8F9B072-6859-408A-8BF3-7BEF3A2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E6A78"/>
                </a:solidFill>
                <a:latin typeface="思源黑体 CN Light"/>
                <a:ea typeface="思源黑体 CN Light"/>
                <a:cs typeface="思源黑体 CN Light"/>
              </a:rPr>
              <a:t>主动通知草稿待人工确认</a:t>
            </a:r>
            <a:endParaRPr sz="1125" b="0">
              <a:solidFill>
                <a:srgbClr val="6E6A78"/>
              </a:soli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21" name="s10band">
            <a:extLst xmlns:a="http://schemas.openxmlformats.org/drawingml/2006/main">
              <a:ext uri="{FF2B5EF4-FFF2-40B4-BE49-F238E27FC236}">
                <a16:creationId xmlns:a16="http://schemas.microsoft.com/office/drawing/2014/main" id="{C239AF22-BA7B-41C3-B1D4-E78CF581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185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10bandText">
            <a:extLst xmlns:a="http://schemas.openxmlformats.org/drawingml/2006/main">
              <a:ext uri="{FF2B5EF4-FFF2-40B4-BE49-F238E27FC236}">
                <a16:creationId xmlns:a16="http://schemas.microsoft.com/office/drawing/2014/main" id="{8B4CD882-D40B-4397-9D2D-E68B4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H3  JEV：来源可追溯，失败安全降级，不改写服务事实。当前仅验证机制与安全边界。</a:t>
            </a:r>
            <a:endParaRPr sz="1800" b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  <p:pic>
        <p:nvPicPr>
          <p:cNvPr id="46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e6c954f6343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89043"/>
            <a:ext cx="12192000" cy="6689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465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C29F60D-48A1-4E39-8CD0-B0E7DC39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" y="2659198"/>
            <a:ext cx="12190507" cy="1862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967740">
              <a:spcBef>
                <a:spcPts val="1060"/>
              </a:spcBef>
              <a:buNone/>
              <a:defRPr sz="4050" b="1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defRPr>
            </a:pPr>
            <a:r>
              <a:rPr sz="4050" b="1" i="1">
                <a:solidFill>
                  <a:srgbClr val="FFFFFF"/>
                </a:solidFill>
                <a:latin typeface="思源黑体 CN"/>
                <a:ea typeface="思源黑体 CN"/>
                <a:cs typeface="思源黑体 CN"/>
              </a:rPr>
              <a:t>聊天可以结束，品牌承诺继续履行</a:t>
            </a:r>
            <a:endParaRPr sz="4050" b="1" i="1">
              <a:solidFill>
                <a:srgbClr val="FFFFFF"/>
              </a:solidFill>
              <a:latin typeface="思源黑体 CN"/>
              <a:ea typeface="思源黑体 CN"/>
              <a:cs typeface="思源黑体 CN"/>
            </a:endParaRPr>
          </a:p>
        </p:txBody>
      </p:sp>
    </p:spTree>
    <p:extLst>
      <p:ext uri="{BB962C8B-B14F-4D97-AF65-F5344CB8AC3E}">
        <p14:creationId xmlns:p14="http://schemas.microsoft.com/office/powerpoint/2010/main" val="8062929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2026-10-07T01:35:02.1520000Z</dcterms:created>
  <dcterms:modified xsi:type="dcterms:W3CDTF">2026-10-07T01:35:02.1520000Z</dcterms:modified>
</coreProperties>
</file>